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charts/chart1.xml" ContentType="application/vnd.openxmlformats-officedocument.drawingml.char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Districts to monitor</c:v>
                </c:pt>
              </c:strCache>
            </c:strRef>
          </c:tx>
          <c:spPr>
            <a:solidFill>
              <a:srgbClr val="c0504d"/>
            </a:solidFill>
            <a:ln w="0">
              <a:noFill/>
            </a:ln>
          </c:spPr>
          <c:invertIfNegative val="0"/>
          <c:dPt>
            <c:idx val="0"/>
            <c:invertIfNegative val="0"/>
            <c:spPr>
              <a:solidFill>
                <a:srgbClr val="c0504d"/>
              </a:solidFill>
              <a:ln w="0">
                <a:noFill/>
              </a:ln>
            </c:spPr>
          </c:dPt>
          <c:dPt>
            <c:idx val="1"/>
            <c:invertIfNegative val="0"/>
            <c:spPr>
              <a:solidFill>
                <a:srgbClr val="4f81bd"/>
              </a:solidFill>
              <a:ln w="0">
                <a:noFill/>
              </a:ln>
            </c:spPr>
          </c:dPt>
          <c:dPt>
            <c:idx val="2"/>
            <c:invertIfNegative val="0"/>
            <c:spPr>
              <a:solidFill>
                <a:srgbClr val="1f497d"/>
              </a:solidFill>
              <a:ln w="0">
                <a:noFill/>
              </a:ln>
            </c:spPr>
          </c:dPt>
          <c:dLbls>
            <c:numFmt formatCode="#,##0" sourceLinked="0"/>
            <c:dLbl>
              <c:idx val="0"/>
              <c:numFmt formatCode="#,##0" sourceLinked="0"/>
              <c:txPr>
                <a:bodyPr wrap="square"/>
                <a:lstStyle/>
                <a:p>
                  <a:pPr>
                    <a:defRPr b="1" sz="1100" spc="-1" strike="noStrike">
                      <a:solidFill>
                        <a:srgbClr val="404040"/>
                      </a:solidFill>
                      <a:latin typeface="Arial"/>
                    </a:defRPr>
                  </a:pPr>
                </a:p>
              </c:txPr>
              <c:dLblPos val="outEnd"/>
              <c:showLegendKey val="0"/>
              <c:showVal val="1"/>
              <c:showCatName val="0"/>
              <c:showSerName val="0"/>
              <c:showPercent val="0"/>
              <c:separator>; </c:separator>
            </c:dLbl>
            <c:dLbl>
              <c:idx val="1"/>
              <c:numFmt formatCode="#,##0" sourceLinked="0"/>
              <c:txPr>
                <a:bodyPr wrap="square"/>
                <a:lstStyle/>
                <a:p>
                  <a:pPr>
                    <a:defRPr b="1" sz="1100" spc="-1" strike="noStrike">
                      <a:solidFill>
                        <a:srgbClr val="404040"/>
                      </a:solidFill>
                      <a:latin typeface="Arial"/>
                    </a:defRPr>
                  </a:pPr>
                </a:p>
              </c:txPr>
              <c:dLblPos val="outEnd"/>
              <c:showLegendKey val="0"/>
              <c:showVal val="1"/>
              <c:showCatName val="0"/>
              <c:showSerName val="0"/>
              <c:showPercent val="0"/>
              <c:separator>; </c:separator>
            </c:dLbl>
            <c:dLbl>
              <c:idx val="2"/>
              <c:numFmt formatCode="#,##0" sourceLinked="0"/>
              <c:txPr>
                <a:bodyPr wrap="square"/>
                <a:lstStyle/>
                <a:p>
                  <a:pPr>
                    <a:defRPr b="1" sz="1100" spc="-1" strike="noStrike">
                      <a:solidFill>
                        <a:srgbClr val="404040"/>
                      </a:solidFill>
                      <a:latin typeface="Arial"/>
                    </a:defRPr>
                  </a:pPr>
                </a:p>
              </c:txPr>
              <c:dLblPos val="outEnd"/>
              <c:showLegendKey val="0"/>
              <c:showVal val="1"/>
              <c:showCatName val="0"/>
              <c:showSerName val="0"/>
              <c:showPercent val="0"/>
              <c:separator>; </c:separator>
            </c:dLbl>
            <c:txPr>
              <a:bodyPr wrap="square"/>
              <a:lstStyle/>
              <a:p>
                <a:pPr>
                  <a:defRPr b="1" sz="1100" spc="-1" strike="noStrike">
                    <a:solidFill>
                      <a:srgbClr val="40404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Watch the whole country</c:v>
                </c:pt>
                <c:pt idx="1">
                  <c:v>Watch the FraudLens top-50 list</c:v>
                </c:pt>
                <c:pt idx="2">
                  <c:v>Watch the FraudLens top-25 list</c:v>
                </c:pt>
              </c:strCache>
            </c:strRef>
          </c:cat>
          <c:val>
            <c:numRef>
              <c:f>0</c:f>
              <c:numCache>
                <c:formatCode>General</c:formatCode>
                <c:ptCount val="3"/>
                <c:pt idx="0">
                  <c:v>724</c:v>
                </c:pt>
                <c:pt idx="1">
                  <c:v>50</c:v>
                </c:pt>
                <c:pt idx="2">
                  <c:v>25</c:v>
                </c:pt>
              </c:numCache>
            </c:numRef>
          </c:val>
        </c:ser>
        <c:gapWidth val="120"/>
        <c:overlap val="0"/>
        <c:axId val="32040231"/>
        <c:axId val="78203118"/>
      </c:barChart>
      <c:catAx>
        <c:axId val="32040231"/>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000" spc="-1" strike="noStrike">
                <a:solidFill>
                  <a:srgbClr val="404040"/>
                </a:solidFill>
                <a:latin typeface="Arial"/>
              </a:defRPr>
            </a:pPr>
          </a:p>
        </c:txPr>
        <c:crossAx val="78203118"/>
        <c:crosses val="autoZero"/>
        <c:auto val="1"/>
        <c:lblAlgn val="ctr"/>
        <c:lblOffset val="100"/>
        <c:noMultiLvlLbl val="0"/>
      </c:catAx>
      <c:valAx>
        <c:axId val="78203118"/>
        <c:scaling>
          <c:orientation val="minMax"/>
          <c:max val="800"/>
          <c:min val="0"/>
        </c:scaling>
        <c:delete val="0"/>
        <c:axPos val="l"/>
        <c:majorGridlines>
          <c:spPr>
            <a:ln w="9360">
              <a:solidFill>
                <a:srgbClr val="e6e6e6"/>
              </a:solidFill>
              <a:round/>
            </a:ln>
          </c:spPr>
        </c:majorGridlines>
        <c:numFmt formatCode="General" sourceLinked="0"/>
        <c:majorTickMark val="out"/>
        <c:minorTickMark val="none"/>
        <c:tickLblPos val="nextTo"/>
        <c:spPr>
          <a:ln w="12600">
            <a:solidFill>
              <a:srgbClr val="888888"/>
            </a:solidFill>
            <a:round/>
          </a:ln>
        </c:spPr>
        <c:txPr>
          <a:bodyPr/>
          <a:lstStyle/>
          <a:p>
            <a:pPr>
              <a:defRPr b="0" sz="800" spc="-1" strike="noStrike">
                <a:solidFill>
                  <a:srgbClr val="808080"/>
                </a:solidFill>
                <a:latin typeface="Arial"/>
              </a:defRPr>
            </a:pPr>
          </a:p>
        </c:txPr>
        <c:crossAx val="32040231"/>
        <c:crosses val="autoZero"/>
        <c:crossBetween val="between"/>
        <c:majorUnit val="200"/>
      </c:valAx>
      <c:spPr>
        <a:noFill/>
        <a:ln w="0">
          <a:noFill/>
        </a:ln>
      </c:spPr>
    </c:plotArea>
    <c:plotVisOnly val="1"/>
    <c:dispBlanksAs val="span"/>
  </c:chart>
  <c:spPr>
    <a:noFill/>
    <a:ln w="936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pc="-1" strike="noStrike">
                <a:solidFill>
                  <a:srgbClr val="000000"/>
                </a:solidFill>
                <a:latin typeface="Calibri"/>
              </a:rPr>
              <a:t>Click to move the slide</a:t>
            </a:r>
            <a:endParaRPr b="0" lang="en-IN"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format</a:t>
            </a:r>
            <a:endParaRPr b="0" lang="en-IN"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7142FA1E-A91F-4F80-B0F8-229B905D55CF}"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228600" y="1523880"/>
            <a:ext cx="7314840" cy="4114440"/>
          </a:xfrm>
          <a:prstGeom prst="rect">
            <a:avLst/>
          </a:prstGeom>
          <a:ln w="0">
            <a:noFill/>
          </a:ln>
        </p:spPr>
      </p:sp>
      <p:sp>
        <p:nvSpPr>
          <p:cNvPr id="239" name="PlaceHolder 2"/>
          <p:cNvSpPr>
            <a:spLocks noGrp="1"/>
          </p:cNvSpPr>
          <p:nvPr>
            <p:ph type="body"/>
          </p:nvPr>
        </p:nvSpPr>
        <p:spPr>
          <a:xfrm>
            <a:off x="685800" y="5867280"/>
            <a:ext cx="5486040" cy="4800240"/>
          </a:xfrm>
          <a:prstGeom prst="rect">
            <a:avLst/>
          </a:prstGeom>
          <a:noFill/>
          <a:ln w="0">
            <a:noFill/>
          </a:ln>
        </p:spPr>
        <p:txBody>
          <a:bodyPr anchor="t">
            <a:noAutofit/>
          </a:bodyPr>
          <a:p>
            <a:pPr marL="216000" indent="-216000">
              <a:lnSpc>
                <a:spcPct val="100000"/>
              </a:lnSpc>
              <a:buNone/>
            </a:pPr>
            <a:r>
              <a:rPr b="0" lang="en-US" sz="2000" spc="-1" strike="noStrike">
                <a:latin typeface="Arial"/>
              </a:rPr>
              <a:t>Good morning respected judges. Imagine a cyber-fraud victim reports that money has been stolen from their account. The money does not necessarily disappear immediately - it can move through multiple mule accounts, sit there for some time, and then be withdrawn as cash from an ATM, sometimes in a completely different district. The question we are addressing: can we predict where that cash-out is likely to happen before it happens? That is FraudLens, built for problem statement SIH26184 under the Ministry of Home Affairs and I4C.</a:t>
            </a:r>
            <a:endParaRPr b="0" lang="en-IN" sz="2000" spc="-1" strike="noStrike">
              <a:latin typeface="Arial"/>
            </a:endParaRPr>
          </a:p>
        </p:txBody>
      </p:sp>
      <p:sp>
        <p:nvSpPr>
          <p:cNvPr id="240" name="PlaceHolder 3"/>
          <p:cNvSpPr>
            <a:spLocks noGrp="1"/>
          </p:cNvSpPr>
          <p:nvPr>
            <p:ph type="sldNum" idx="4"/>
          </p:nvPr>
        </p:nvSpPr>
        <p:spPr>
          <a:xfrm>
            <a:off x="3884760" y="11580840"/>
            <a:ext cx="2971440" cy="61092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F8D8011-56CC-4CF8-AF53-C9CCAEC76960}"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228600" y="1523880"/>
            <a:ext cx="7314840" cy="4114440"/>
          </a:xfrm>
          <a:prstGeom prst="rect">
            <a:avLst/>
          </a:prstGeom>
          <a:ln w="0">
            <a:noFill/>
          </a:ln>
        </p:spPr>
      </p:sp>
      <p:sp>
        <p:nvSpPr>
          <p:cNvPr id="242" name="PlaceHolder 2"/>
          <p:cNvSpPr>
            <a:spLocks noGrp="1"/>
          </p:cNvSpPr>
          <p:nvPr>
            <p:ph type="body"/>
          </p:nvPr>
        </p:nvSpPr>
        <p:spPr>
          <a:xfrm>
            <a:off x="685800" y="5867280"/>
            <a:ext cx="5486040" cy="4800240"/>
          </a:xfrm>
          <a:prstGeom prst="rect">
            <a:avLst/>
          </a:prstGeom>
          <a:noFill/>
          <a:ln w="0">
            <a:noFill/>
          </a:ln>
        </p:spPr>
        <p:txBody>
          <a:bodyPr anchor="t">
            <a:noAutofit/>
          </a:bodyPr>
          <a:p>
            <a:pPr marL="216000" indent="-216000">
              <a:lnSpc>
                <a:spcPct val="100000"/>
              </a:lnSpc>
              <a:buNone/>
            </a:pPr>
            <a:r>
              <a:rPr b="0" lang="en-US" sz="2000" spc="-1" strike="noStrike">
                <a:latin typeface="Arial"/>
              </a:rPr>
              <a:t>Cyber-fraud investigation today is reactive - once the cash is withdrawn, the chance to intercept is gone. But the money does not move instantly. It sits in a chain of mule accounts for hours. FraudLens uses that window: it reads the complaints and the transaction chains and forecasts which districts are most likely to see a fraud-linked ATM withdrawal in the next six hours, shows them on a map, and sends an explained alert to the right stakeholder. The innovation is that we follow the money that is still in flight, rather than studying where fraud happened in the past.</a:t>
            </a:r>
            <a:endParaRPr b="0" lang="en-IN" sz="2000" spc="-1" strike="noStrike">
              <a:latin typeface="Arial"/>
            </a:endParaRPr>
          </a:p>
        </p:txBody>
      </p:sp>
      <p:sp>
        <p:nvSpPr>
          <p:cNvPr id="243" name="PlaceHolder 3"/>
          <p:cNvSpPr>
            <a:spLocks noGrp="1"/>
          </p:cNvSpPr>
          <p:nvPr>
            <p:ph type="sldNum" idx="5"/>
          </p:nvPr>
        </p:nvSpPr>
        <p:spPr>
          <a:xfrm>
            <a:off x="3884760" y="11580840"/>
            <a:ext cx="2971440" cy="61092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E957922-EE73-47B6-AF4B-B9B9E3634F67}"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228600" y="1523880"/>
            <a:ext cx="7314840" cy="4114440"/>
          </a:xfrm>
          <a:prstGeom prst="rect">
            <a:avLst/>
          </a:prstGeom>
          <a:ln w="0">
            <a:noFill/>
          </a:ln>
        </p:spPr>
      </p:sp>
      <p:sp>
        <p:nvSpPr>
          <p:cNvPr id="245" name="PlaceHolder 2"/>
          <p:cNvSpPr>
            <a:spLocks noGrp="1"/>
          </p:cNvSpPr>
          <p:nvPr>
            <p:ph type="body"/>
          </p:nvPr>
        </p:nvSpPr>
        <p:spPr>
          <a:xfrm>
            <a:off x="685800" y="5867280"/>
            <a:ext cx="5486040" cy="4800240"/>
          </a:xfrm>
          <a:prstGeom prst="rect">
            <a:avLst/>
          </a:prstGeom>
          <a:noFill/>
          <a:ln w="0">
            <a:noFill/>
          </a:ln>
        </p:spPr>
        <p:txBody>
          <a:bodyPr anchor="t">
            <a:noAutofit/>
          </a:bodyPr>
          <a:p>
            <a:pPr marL="216000" indent="-216000">
              <a:lnSpc>
                <a:spcPct val="100000"/>
              </a:lnSpc>
              <a:buNone/>
            </a:pPr>
            <a:r>
              <a:rPr b="0" lang="en-US" sz="2000" spc="-1" strike="noStrike">
                <a:latin typeface="Arial"/>
              </a:rPr>
              <a:t>The pipeline: data, chain reconstruction, feature engineering, prediction, GIS dashboard, alerts. 42 features covering historical withdrawal behaviour, temporal patterns, neighbourhood activity, complaint activity, active hotspots, self-excitation and live transaction-chain features. Prediction unit is district by 6-hour window. Calibrated LightGBM. We do not use a random train-test split - we use a strict temporal split, months 1 to 10 for training and 11 to 12 for testing, which represents the real scenario of training on the past to predict the future. Isotonic calibration makes the risk scores interpretable as probabilities. One important safeguard is the automated temporal leakage test, which passed.</a:t>
            </a:r>
            <a:endParaRPr b="0" lang="en-IN" sz="2000" spc="-1" strike="noStrike">
              <a:latin typeface="Arial"/>
            </a:endParaRPr>
          </a:p>
        </p:txBody>
      </p:sp>
      <p:sp>
        <p:nvSpPr>
          <p:cNvPr id="246" name="PlaceHolder 3"/>
          <p:cNvSpPr>
            <a:spLocks noGrp="1"/>
          </p:cNvSpPr>
          <p:nvPr>
            <p:ph type="sldNum" idx="6"/>
          </p:nvPr>
        </p:nvSpPr>
        <p:spPr>
          <a:xfrm>
            <a:off x="3884760" y="11580840"/>
            <a:ext cx="2971440" cy="61092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5511BE3-5D28-4869-A7B8-B58439FDDA8D}"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228600" y="1523880"/>
            <a:ext cx="7314840" cy="4114440"/>
          </a:xfrm>
          <a:prstGeom prst="rect">
            <a:avLst/>
          </a:prstGeom>
          <a:ln w="0">
            <a:noFill/>
          </a:ln>
        </p:spPr>
      </p:sp>
      <p:sp>
        <p:nvSpPr>
          <p:cNvPr id="248" name="PlaceHolder 2"/>
          <p:cNvSpPr>
            <a:spLocks noGrp="1"/>
          </p:cNvSpPr>
          <p:nvPr>
            <p:ph type="body"/>
          </p:nvPr>
        </p:nvSpPr>
        <p:spPr>
          <a:xfrm>
            <a:off x="685800" y="5867280"/>
            <a:ext cx="5486040" cy="4800240"/>
          </a:xfrm>
          <a:prstGeom prst="rect">
            <a:avLst/>
          </a:prstGeom>
          <a:noFill/>
          <a:ln w="0">
            <a:noFill/>
          </a:ln>
        </p:spPr>
        <p:txBody>
          <a:bodyPr anchor="t">
            <a:noAutofit/>
          </a:bodyPr>
          <a:p>
            <a:pPr marL="216000" indent="-216000">
              <a:lnSpc>
                <a:spcPct val="100000"/>
              </a:lnSpc>
              <a:buNone/>
            </a:pPr>
            <a:r>
              <a:rPr b="0" lang="en-US" sz="2000" spc="-1" strike="noStrike">
                <a:latin typeface="Arial"/>
              </a:rPr>
              <a:t>We deliberately kept this lightweight. The whole prototype runs offline on one laptop - no cloud, no GPU - and a fresh clone reproduces every number in about 75 seconds, so anyone can check our claims. The important feasibility question is not accuracy, it is whether a police force can use it. Every six hours there are 724 districts and nobody can watch them all; FraudLens turns that into a short ranked list, so it changes what officers look at rather than how many officers are needed. Notifications are simulated rather than claimed as production integrations, and authentication and audit remain prototype components.</a:t>
            </a:r>
            <a:endParaRPr b="0" lang="en-IN" sz="2000" spc="-1" strike="noStrike">
              <a:latin typeface="Arial"/>
            </a:endParaRPr>
          </a:p>
        </p:txBody>
      </p:sp>
      <p:sp>
        <p:nvSpPr>
          <p:cNvPr id="249" name="PlaceHolder 3"/>
          <p:cNvSpPr>
            <a:spLocks noGrp="1"/>
          </p:cNvSpPr>
          <p:nvPr>
            <p:ph type="sldNum" idx="7"/>
          </p:nvPr>
        </p:nvSpPr>
        <p:spPr>
          <a:xfrm>
            <a:off x="3884760" y="11580840"/>
            <a:ext cx="2971440" cy="61092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5C1B1BC-DF2A-4E29-AE1F-5081001E3A4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228600" y="1523880"/>
            <a:ext cx="7314840" cy="4114440"/>
          </a:xfrm>
          <a:prstGeom prst="rect">
            <a:avLst/>
          </a:prstGeom>
          <a:ln w="0">
            <a:noFill/>
          </a:ln>
        </p:spPr>
      </p:sp>
      <p:sp>
        <p:nvSpPr>
          <p:cNvPr id="251" name="PlaceHolder 2"/>
          <p:cNvSpPr>
            <a:spLocks noGrp="1"/>
          </p:cNvSpPr>
          <p:nvPr>
            <p:ph type="body"/>
          </p:nvPr>
        </p:nvSpPr>
        <p:spPr>
          <a:xfrm>
            <a:off x="685800" y="5867280"/>
            <a:ext cx="5486040" cy="4800240"/>
          </a:xfrm>
          <a:prstGeom prst="rect">
            <a:avLst/>
          </a:prstGeom>
          <a:noFill/>
          <a:ln w="0">
            <a:noFill/>
          </a:ln>
        </p:spPr>
        <p:txBody>
          <a:bodyPr anchor="t">
            <a:noAutofit/>
          </a:bodyPr>
          <a:p>
            <a:pPr marL="216000" indent="-216000">
              <a:lnSpc>
                <a:spcPct val="100000"/>
              </a:lnSpc>
              <a:buNone/>
            </a:pPr>
            <a:r>
              <a:rPr b="0" lang="en-US" sz="2000" spc="-1" strike="noStrike">
                <a:latin typeface="Arial"/>
              </a:rPr>
              <a:t>The most important question is whether the prediction actually helps. Our primary metric is hit-rate@K because an officer cannot monitor hundreds of districts at once - they need a small ranked list to prioritise. Four benefits: proactive intervention instead of waiting for the cash-out; better resource prioritisation through a ranked list; cross-jurisdiction coordination via the referral mechanism; and explainability, since the system gives reasons rather than an unexplained black-box score. The objective is not to replace investigators - it is to give investigators better intelligence at the right time.</a:t>
            </a:r>
            <a:endParaRPr b="0" lang="en-IN" sz="2000" spc="-1" strike="noStrike">
              <a:latin typeface="Arial"/>
            </a:endParaRPr>
          </a:p>
        </p:txBody>
      </p:sp>
      <p:sp>
        <p:nvSpPr>
          <p:cNvPr id="252" name="PlaceHolder 3"/>
          <p:cNvSpPr>
            <a:spLocks noGrp="1"/>
          </p:cNvSpPr>
          <p:nvPr>
            <p:ph type="sldNum" idx="8"/>
          </p:nvPr>
        </p:nvSpPr>
        <p:spPr>
          <a:xfrm>
            <a:off x="3884760" y="11580840"/>
            <a:ext cx="2971440" cy="61092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8078388-80A2-4B0C-993B-020DE23F180E}"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228600" y="1523880"/>
            <a:ext cx="7314840" cy="4114440"/>
          </a:xfrm>
          <a:prstGeom prst="rect">
            <a:avLst/>
          </a:prstGeom>
          <a:ln w="0">
            <a:noFill/>
          </a:ln>
        </p:spPr>
      </p:sp>
      <p:sp>
        <p:nvSpPr>
          <p:cNvPr id="254" name="PlaceHolder 2"/>
          <p:cNvSpPr>
            <a:spLocks noGrp="1"/>
          </p:cNvSpPr>
          <p:nvPr>
            <p:ph type="body"/>
          </p:nvPr>
        </p:nvSpPr>
        <p:spPr>
          <a:xfrm>
            <a:off x="685800" y="5867280"/>
            <a:ext cx="5486040" cy="4800240"/>
          </a:xfrm>
          <a:prstGeom prst="rect">
            <a:avLst/>
          </a:prstGeom>
          <a:noFill/>
          <a:ln w="0">
            <a:noFill/>
          </a:ln>
        </p:spPr>
        <p:txBody>
          <a:bodyPr anchor="t">
            <a:noAutofit/>
          </a:bodyPr>
          <a:p>
            <a:pPr marL="216000" indent="-216000">
              <a:lnSpc>
                <a:spcPct val="100000"/>
              </a:lnSpc>
              <a:buNone/>
            </a:pPr>
            <a:r>
              <a:rPr b="0" lang="en-US" sz="2000" spc="-1" strike="noStrike">
                <a:latin typeface="Arial"/>
              </a:rPr>
              <a:t>Our approach builds on existing work in the cyber-fraud ecosystem - I4C's Samanvaya and Pratibimb, MuleHunter.ai, CFCFRMS and NCRP. We studied these to understand the existing focus on investigation, mule-account identification and response. Our differentiation is the forward-looking prediction layer. Future directions: ST-GNN, streaming ingestion, real CFCFRMS and NCRP integration subject to governance, online learning and drift monitoring, production authentication and audit, real notification gateways, category-specific models, and detection of criminals shifting away from ATM cash-out. To conclude: don't wait for the money to disappear. Track where it is moving, predict where it comes out next, and send that to the right stakeholder before the cash-out. Thank you.</a:t>
            </a:r>
            <a:endParaRPr b="0" lang="en-IN" sz="2000" spc="-1" strike="noStrike">
              <a:latin typeface="Arial"/>
            </a:endParaRPr>
          </a:p>
        </p:txBody>
      </p:sp>
      <p:sp>
        <p:nvSpPr>
          <p:cNvPr id="255" name="PlaceHolder 3"/>
          <p:cNvSpPr>
            <a:spLocks noGrp="1"/>
          </p:cNvSpPr>
          <p:nvPr>
            <p:ph type="sldNum" idx="9"/>
          </p:nvPr>
        </p:nvSpPr>
        <p:spPr>
          <a:xfrm>
            <a:off x="3884760" y="11580840"/>
            <a:ext cx="2971440" cy="61092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FDE06DE-B1F4-4802-A15C-D327D1AE09DE}"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en-IN" sz="1800" spc="-1" strike="noStrike">
                <a:solidFill>
                  <a:srgbClr val="000000"/>
                </a:solidFill>
                <a:latin typeface="Calibri"/>
              </a:rPr>
              <a:t>Click to edit the title text format</a:t>
            </a:r>
            <a:endParaRPr b="0" lang="en-IN" sz="1800" spc="-1" strike="noStrike">
              <a:solidFill>
                <a:srgbClr val="000000"/>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chart" Target="../charts/chart1.xml"/><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4" name="Image 0" descr="tpl/sih_logo.png"/>
          <p:cNvPicPr/>
          <p:nvPr/>
        </p:nvPicPr>
        <p:blipFill>
          <a:blip r:embed="rId1"/>
          <a:stretch/>
        </p:blipFill>
        <p:spPr>
          <a:xfrm>
            <a:off x="10113120" y="118800"/>
            <a:ext cx="1691280" cy="802440"/>
          </a:xfrm>
          <a:prstGeom prst="rect">
            <a:avLst/>
          </a:prstGeom>
          <a:ln w="0">
            <a:noFill/>
          </a:ln>
        </p:spPr>
      </p:pic>
      <p:sp>
        <p:nvSpPr>
          <p:cNvPr id="45" name="Shape 0"/>
          <p:cNvSpPr/>
          <p:nvPr/>
        </p:nvSpPr>
        <p:spPr>
          <a:xfrm>
            <a:off x="48600" y="7740000"/>
            <a:ext cx="12191400" cy="420120"/>
          </a:xfrm>
          <a:prstGeom prst="rect">
            <a:avLst/>
          </a:prstGeom>
          <a:solidFill>
            <a:srgbClr val="0070c0"/>
          </a:solidFill>
          <a:ln w="0">
            <a:noFill/>
          </a:ln>
        </p:spPr>
        <p:style>
          <a:lnRef idx="0"/>
          <a:fillRef idx="0"/>
          <a:effectRef idx="0"/>
          <a:fontRef idx="minor"/>
        </p:style>
      </p:sp>
      <p:sp>
        <p:nvSpPr>
          <p:cNvPr id="46" name="Text 1"/>
          <p:cNvSpPr/>
          <p:nvPr/>
        </p:nvSpPr>
        <p:spPr>
          <a:xfrm>
            <a:off x="3840480" y="6455520"/>
            <a:ext cx="448020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00" spc="-1" strike="noStrike">
                <a:solidFill>
                  <a:srgbClr val="ffffff"/>
                </a:solidFill>
                <a:latin typeface="Arial"/>
                <a:ea typeface="Arial"/>
              </a:rPr>
              <a:t>@SIH Idea submission- Template</a:t>
            </a:r>
            <a:endParaRPr b="0" lang="en-IN" sz="900" spc="-1" strike="noStrike">
              <a:latin typeface="Arial"/>
            </a:endParaRPr>
          </a:p>
        </p:txBody>
      </p:sp>
      <p:sp>
        <p:nvSpPr>
          <p:cNvPr id="47" name="Text 2"/>
          <p:cNvSpPr/>
          <p:nvPr/>
        </p:nvSpPr>
        <p:spPr>
          <a:xfrm>
            <a:off x="11247120" y="6455520"/>
            <a:ext cx="5482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Arial"/>
                <a:ea typeface="Arial"/>
              </a:rPr>
              <a:t>1</a:t>
            </a:r>
            <a:endParaRPr b="0" lang="en-IN" sz="900" spc="-1" strike="noStrike">
              <a:latin typeface="Arial"/>
            </a:endParaRPr>
          </a:p>
        </p:txBody>
      </p:sp>
      <p:sp>
        <p:nvSpPr>
          <p:cNvPr id="48" name="Text 3"/>
          <p:cNvSpPr/>
          <p:nvPr/>
        </p:nvSpPr>
        <p:spPr>
          <a:xfrm>
            <a:off x="914400" y="201240"/>
            <a:ext cx="8960760" cy="5666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3200" spc="-1" strike="noStrike">
                <a:solidFill>
                  <a:srgbClr val="1f497d"/>
                </a:solidFill>
                <a:latin typeface="Times New Roman"/>
                <a:ea typeface="Times New Roman"/>
              </a:rPr>
              <a:t>SMART INDIA HACKATHON 2026</a:t>
            </a:r>
            <a:endParaRPr b="0" lang="en-IN" sz="3200" spc="-1" strike="noStrike">
              <a:latin typeface="Arial"/>
            </a:endParaRPr>
          </a:p>
        </p:txBody>
      </p:sp>
      <p:sp>
        <p:nvSpPr>
          <p:cNvPr id="49" name="Text 4"/>
          <p:cNvSpPr/>
          <p:nvPr/>
        </p:nvSpPr>
        <p:spPr>
          <a:xfrm>
            <a:off x="914400" y="841320"/>
            <a:ext cx="896076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600" spc="-1" strike="noStrike">
                <a:solidFill>
                  <a:srgbClr val="1a1a1a"/>
                </a:solidFill>
                <a:latin typeface="Times New Roman"/>
                <a:ea typeface="Times New Roman"/>
              </a:rPr>
              <a:t>TITLE PAGE</a:t>
            </a:r>
            <a:endParaRPr b="0" lang="en-IN" sz="2600" spc="-1" strike="noStrike">
              <a:latin typeface="Arial"/>
            </a:endParaRPr>
          </a:p>
        </p:txBody>
      </p:sp>
      <p:pic>
        <p:nvPicPr>
          <p:cNvPr id="50" name="Image 1" descr="tpl/sih_brain.png"/>
          <p:cNvPicPr/>
          <p:nvPr/>
        </p:nvPicPr>
        <p:blipFill>
          <a:blip r:embed="rId2">
            <a:alphaModFix amt="88000"/>
          </a:blip>
          <a:stretch/>
        </p:blipFill>
        <p:spPr>
          <a:xfrm>
            <a:off x="8412480" y="1783080"/>
            <a:ext cx="3154320" cy="3373920"/>
          </a:xfrm>
          <a:prstGeom prst="rect">
            <a:avLst/>
          </a:prstGeom>
          <a:ln w="0">
            <a:noFill/>
          </a:ln>
        </p:spPr>
      </p:pic>
      <p:sp>
        <p:nvSpPr>
          <p:cNvPr id="51" name="Text 5"/>
          <p:cNvSpPr/>
          <p:nvPr/>
        </p:nvSpPr>
        <p:spPr>
          <a:xfrm>
            <a:off x="567000" y="1572840"/>
            <a:ext cx="7589160" cy="402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700" spc="-1" strike="noStrike">
                <a:solidFill>
                  <a:srgbClr val="1f497d"/>
                </a:solidFill>
                <a:latin typeface="Times New Roman"/>
                <a:ea typeface="Times New Roman"/>
              </a:rPr>
              <a:t>FraudLens</a:t>
            </a:r>
            <a:endParaRPr b="0" lang="en-IN" sz="2700" spc="-1" strike="noStrike">
              <a:latin typeface="Arial"/>
            </a:endParaRPr>
          </a:p>
        </p:txBody>
      </p:sp>
      <p:sp>
        <p:nvSpPr>
          <p:cNvPr id="52" name="Text 6"/>
          <p:cNvSpPr/>
          <p:nvPr/>
        </p:nvSpPr>
        <p:spPr>
          <a:xfrm>
            <a:off x="567000" y="1956960"/>
            <a:ext cx="75891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250" spc="-1" strike="noStrike">
                <a:solidFill>
                  <a:srgbClr val="595959"/>
                </a:solidFill>
                <a:latin typeface="Arial"/>
                <a:ea typeface="Arial"/>
              </a:rPr>
              <a:t>Predictive Cash-Withdrawal Intelligence for Proactive Cyber-Fraud Interdiction</a:t>
            </a:r>
            <a:endParaRPr b="0" lang="en-IN" sz="1250" spc="-1" strike="noStrike">
              <a:latin typeface="Arial"/>
            </a:endParaRPr>
          </a:p>
        </p:txBody>
      </p:sp>
      <p:sp>
        <p:nvSpPr>
          <p:cNvPr id="53" name="Text 7"/>
          <p:cNvSpPr/>
          <p:nvPr/>
        </p:nvSpPr>
        <p:spPr>
          <a:xfrm>
            <a:off x="567000" y="2359080"/>
            <a:ext cx="7634880" cy="306288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1199"/>
              </a:spcAft>
              <a:buClr>
                <a:srgbClr val="1f497d"/>
              </a:buClr>
              <a:buFont typeface="Symbol" charset="2"/>
              <a:buChar char=""/>
            </a:pPr>
            <a:r>
              <a:rPr b="1" lang="en-US" sz="1400" spc="-1" strike="noStrike">
                <a:solidFill>
                  <a:srgbClr val="1f497d"/>
                </a:solidFill>
                <a:latin typeface="Arial"/>
                <a:ea typeface="Arial"/>
              </a:rPr>
              <a:t>Problem Statement ID – </a:t>
            </a:r>
            <a:r>
              <a:rPr b="0" lang="en-US" sz="1400" spc="-1" strike="noStrike">
                <a:solidFill>
                  <a:srgbClr val="1a1a1a"/>
                </a:solidFill>
                <a:latin typeface="Arial"/>
                <a:ea typeface="Arial"/>
              </a:rPr>
              <a:t>SIH26184</a:t>
            </a:r>
            <a:endParaRPr b="0" lang="en-IN" sz="1400" spc="-1" strike="noStrike">
              <a:latin typeface="Arial"/>
            </a:endParaRPr>
          </a:p>
          <a:p>
            <a:pPr marL="343080" indent="-343080">
              <a:lnSpc>
                <a:spcPct val="100000"/>
              </a:lnSpc>
              <a:spcAft>
                <a:spcPts val="1199"/>
              </a:spcAft>
              <a:buClr>
                <a:srgbClr val="1f497d"/>
              </a:buClr>
              <a:buFont typeface="Symbol" charset="2"/>
              <a:buChar char=""/>
            </a:pPr>
            <a:r>
              <a:rPr b="1" lang="en-US" sz="1150" spc="-1" strike="noStrike">
                <a:solidFill>
                  <a:srgbClr val="1f497d"/>
                </a:solidFill>
                <a:latin typeface="Arial"/>
                <a:ea typeface="Arial"/>
              </a:rPr>
              <a:t>Problem Statement Title – </a:t>
            </a:r>
            <a:r>
              <a:rPr b="0" lang="en-US" sz="1150" spc="-1" strike="noStrike">
                <a:solidFill>
                  <a:srgbClr val="1a1a1a"/>
                </a:solidFill>
                <a:latin typeface="Arial"/>
                <a:ea typeface="Arial"/>
              </a:rPr>
              <a:t>Development of a Predictive Analytics Framework for Cybercrime Complaints to Forecast Likely Cash Withdrawal Locations in Advance, Enabling Generation of Actionable Intelligence for Timely and Proactive Cybercrime Intervention.</a:t>
            </a:r>
            <a:endParaRPr b="0" lang="en-IN" sz="1150" spc="-1" strike="noStrike">
              <a:latin typeface="Arial"/>
            </a:endParaRPr>
          </a:p>
          <a:p>
            <a:pPr marL="343080" indent="-343080">
              <a:lnSpc>
                <a:spcPct val="100000"/>
              </a:lnSpc>
              <a:spcAft>
                <a:spcPts val="1199"/>
              </a:spcAft>
              <a:buClr>
                <a:srgbClr val="1f497d"/>
              </a:buClr>
              <a:buFont typeface="Symbol" charset="2"/>
              <a:buChar char=""/>
            </a:pPr>
            <a:r>
              <a:rPr b="1" lang="en-US" sz="1400" spc="-1" strike="noStrike">
                <a:solidFill>
                  <a:srgbClr val="1f497d"/>
                </a:solidFill>
                <a:latin typeface="Arial"/>
                <a:ea typeface="Arial"/>
              </a:rPr>
              <a:t>Theme – </a:t>
            </a:r>
            <a:r>
              <a:rPr b="0" lang="en-US" sz="1400" spc="-1" strike="noStrike">
                <a:solidFill>
                  <a:srgbClr val="1a1a1a"/>
                </a:solidFill>
                <a:latin typeface="Arial"/>
                <a:ea typeface="Arial"/>
              </a:rPr>
              <a:t>Blockchain &amp; Cybersecurity</a:t>
            </a:r>
            <a:endParaRPr b="0" lang="en-IN" sz="1400" spc="-1" strike="noStrike">
              <a:latin typeface="Arial"/>
            </a:endParaRPr>
          </a:p>
          <a:p>
            <a:pPr marL="343080" indent="-343080">
              <a:lnSpc>
                <a:spcPct val="100000"/>
              </a:lnSpc>
              <a:spcAft>
                <a:spcPts val="1199"/>
              </a:spcAft>
              <a:buClr>
                <a:srgbClr val="1f497d"/>
              </a:buClr>
              <a:buFont typeface="Symbol" charset="2"/>
              <a:buChar char=""/>
            </a:pPr>
            <a:r>
              <a:rPr b="1" lang="en-US" sz="1400" spc="-1" strike="noStrike">
                <a:solidFill>
                  <a:srgbClr val="1f497d"/>
                </a:solidFill>
                <a:latin typeface="Arial"/>
                <a:ea typeface="Arial"/>
              </a:rPr>
              <a:t>PS Category – </a:t>
            </a:r>
            <a:r>
              <a:rPr b="0" lang="en-US" sz="1400" spc="-1" strike="noStrike">
                <a:solidFill>
                  <a:srgbClr val="1a1a1a"/>
                </a:solidFill>
                <a:latin typeface="Arial"/>
                <a:ea typeface="Arial"/>
              </a:rPr>
              <a:t>Software</a:t>
            </a:r>
            <a:endParaRPr b="0" lang="en-IN" sz="1400" spc="-1" strike="noStrike">
              <a:latin typeface="Arial"/>
            </a:endParaRPr>
          </a:p>
          <a:p>
            <a:pPr marL="343080" indent="-343080">
              <a:lnSpc>
                <a:spcPct val="100000"/>
              </a:lnSpc>
              <a:spcAft>
                <a:spcPts val="1199"/>
              </a:spcAft>
              <a:buClr>
                <a:srgbClr val="1f497d"/>
              </a:buClr>
              <a:buFont typeface="Symbol" charset="2"/>
              <a:buChar char=""/>
            </a:pPr>
            <a:r>
              <a:rPr b="1" lang="en-US" sz="1400" spc="-1" strike="noStrike">
                <a:solidFill>
                  <a:srgbClr val="1f497d"/>
                </a:solidFill>
                <a:latin typeface="Arial"/>
                <a:ea typeface="Arial"/>
              </a:rPr>
              <a:t>Team ID – </a:t>
            </a:r>
            <a:r>
              <a:rPr b="0" lang="en-US" sz="1400" spc="-1" strike="noStrike">
                <a:solidFill>
                  <a:srgbClr val="1a1a1a"/>
                </a:solidFill>
                <a:latin typeface="Arial"/>
                <a:ea typeface="Arial"/>
              </a:rPr>
              <a:t>IT036</a:t>
            </a:r>
            <a:endParaRPr b="0" lang="en-IN" sz="1400" spc="-1" strike="noStrike">
              <a:latin typeface="Arial"/>
            </a:endParaRPr>
          </a:p>
          <a:p>
            <a:pPr marL="343080" indent="-343080">
              <a:lnSpc>
                <a:spcPct val="100000"/>
              </a:lnSpc>
              <a:buClr>
                <a:srgbClr val="1f497d"/>
              </a:buClr>
              <a:buFont typeface="Symbol" charset="2"/>
              <a:buChar char=""/>
            </a:pPr>
            <a:r>
              <a:rPr b="1" lang="en-US" sz="1400" spc="-1" strike="noStrike">
                <a:solidFill>
                  <a:srgbClr val="1f497d"/>
                </a:solidFill>
                <a:latin typeface="Arial"/>
                <a:ea typeface="Arial"/>
              </a:rPr>
              <a:t>Team Name (Registered on portal) – </a:t>
            </a:r>
            <a:r>
              <a:rPr b="0" lang="en-US" sz="1400" spc="-1" strike="noStrike">
                <a:solidFill>
                  <a:srgbClr val="1a1a1a"/>
                </a:solidFill>
                <a:latin typeface="Arial"/>
                <a:ea typeface="Arial"/>
              </a:rPr>
              <a:t>The PixelRex Crew</a:t>
            </a:r>
            <a:endParaRPr b="0" lang="en-IN" sz="1400" spc="-1" strike="noStrike">
              <a:latin typeface="Arial"/>
            </a:endParaRPr>
          </a:p>
        </p:txBody>
      </p:sp>
      <p:sp>
        <p:nvSpPr>
          <p:cNvPr id="54" name="Shape 8"/>
          <p:cNvSpPr/>
          <p:nvPr/>
        </p:nvSpPr>
        <p:spPr>
          <a:xfrm>
            <a:off x="411480" y="5614560"/>
            <a:ext cx="11365560" cy="548280"/>
          </a:xfrm>
          <a:prstGeom prst="roundRect">
            <a:avLst>
              <a:gd name="adj" fmla="val 8333"/>
            </a:avLst>
          </a:prstGeom>
          <a:solidFill>
            <a:srgbClr val="1f497d"/>
          </a:solidFill>
          <a:ln w="12700">
            <a:solidFill>
              <a:srgbClr val="ffffff"/>
            </a:solidFill>
            <a:round/>
          </a:ln>
        </p:spPr>
        <p:style>
          <a:lnRef idx="0"/>
          <a:fillRef idx="0"/>
          <a:effectRef idx="0"/>
          <a:fontRef idx="minor"/>
        </p:style>
      </p:sp>
      <p:sp>
        <p:nvSpPr>
          <p:cNvPr id="55" name="Text 9"/>
          <p:cNvSpPr/>
          <p:nvPr/>
        </p:nvSpPr>
        <p:spPr>
          <a:xfrm>
            <a:off x="411480" y="5614560"/>
            <a:ext cx="11365560" cy="548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400" spc="-1" strike="noStrike">
                <a:solidFill>
                  <a:srgbClr val="ffffff"/>
                </a:solidFill>
                <a:latin typeface="Times New Roman"/>
                <a:ea typeface="Times New Roman"/>
              </a:rPr>
              <a:t>Predicts the district and 6-hour window where stolen money is most likely to exit as ATM cash — before the withdrawal happens.</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6" name="Image 0" descr="tpl/sih_logo.png"/>
          <p:cNvPicPr/>
          <p:nvPr/>
        </p:nvPicPr>
        <p:blipFill>
          <a:blip r:embed="rId1"/>
          <a:stretch/>
        </p:blipFill>
        <p:spPr>
          <a:xfrm>
            <a:off x="10113120" y="118800"/>
            <a:ext cx="1691280" cy="802440"/>
          </a:xfrm>
          <a:prstGeom prst="rect">
            <a:avLst/>
          </a:prstGeom>
          <a:ln w="0">
            <a:noFill/>
          </a:ln>
        </p:spPr>
      </p:pic>
      <p:sp>
        <p:nvSpPr>
          <p:cNvPr id="57" name="Shape 0"/>
          <p:cNvSpPr/>
          <p:nvPr/>
        </p:nvSpPr>
        <p:spPr>
          <a:xfrm>
            <a:off x="48600" y="7380000"/>
            <a:ext cx="12191400" cy="420120"/>
          </a:xfrm>
          <a:prstGeom prst="rect">
            <a:avLst/>
          </a:prstGeom>
          <a:solidFill>
            <a:srgbClr val="0070c0"/>
          </a:solidFill>
          <a:ln w="0">
            <a:noFill/>
          </a:ln>
        </p:spPr>
        <p:style>
          <a:lnRef idx="0"/>
          <a:fillRef idx="0"/>
          <a:effectRef idx="0"/>
          <a:fontRef idx="minor"/>
        </p:style>
      </p:sp>
      <p:sp>
        <p:nvSpPr>
          <p:cNvPr id="58" name="Text 1"/>
          <p:cNvSpPr/>
          <p:nvPr/>
        </p:nvSpPr>
        <p:spPr>
          <a:xfrm>
            <a:off x="3840480" y="6455520"/>
            <a:ext cx="448020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00" spc="-1" strike="noStrike">
                <a:solidFill>
                  <a:srgbClr val="ffffff"/>
                </a:solidFill>
                <a:latin typeface="Arial"/>
                <a:ea typeface="Arial"/>
              </a:rPr>
              <a:t>@SIH Idea submission- Template</a:t>
            </a:r>
            <a:endParaRPr b="0" lang="en-IN" sz="900" spc="-1" strike="noStrike">
              <a:latin typeface="Arial"/>
            </a:endParaRPr>
          </a:p>
        </p:txBody>
      </p:sp>
      <p:sp>
        <p:nvSpPr>
          <p:cNvPr id="59" name="Text 2"/>
          <p:cNvSpPr/>
          <p:nvPr/>
        </p:nvSpPr>
        <p:spPr>
          <a:xfrm>
            <a:off x="11247120" y="6455520"/>
            <a:ext cx="5482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Arial"/>
                <a:ea typeface="Arial"/>
              </a:rPr>
              <a:t>2</a:t>
            </a:r>
            <a:endParaRPr b="0" lang="en-IN" sz="900" spc="-1" strike="noStrike">
              <a:latin typeface="Arial"/>
            </a:endParaRPr>
          </a:p>
        </p:txBody>
      </p:sp>
      <p:sp>
        <p:nvSpPr>
          <p:cNvPr id="60" name="Shape 3"/>
          <p:cNvSpPr/>
          <p:nvPr/>
        </p:nvSpPr>
        <p:spPr>
          <a:xfrm>
            <a:off x="365760" y="118800"/>
            <a:ext cx="1261440" cy="639720"/>
          </a:xfrm>
          <a:prstGeom prst="ellipse">
            <a:avLst/>
          </a:prstGeom>
          <a:solidFill>
            <a:srgbClr val="ffffff"/>
          </a:solidFill>
          <a:ln w="15875">
            <a:solidFill>
              <a:srgbClr val="7030a0"/>
            </a:solidFill>
            <a:round/>
          </a:ln>
        </p:spPr>
        <p:style>
          <a:lnRef idx="0"/>
          <a:fillRef idx="0"/>
          <a:effectRef idx="0"/>
          <a:fontRef idx="minor"/>
        </p:style>
      </p:sp>
      <p:sp>
        <p:nvSpPr>
          <p:cNvPr id="61" name="Text 4"/>
          <p:cNvSpPr/>
          <p:nvPr/>
        </p:nvSpPr>
        <p:spPr>
          <a:xfrm>
            <a:off x="411480" y="137160"/>
            <a:ext cx="117000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1f497d"/>
                </a:solidFill>
                <a:latin typeface="Arial"/>
                <a:ea typeface="Arial"/>
              </a:rPr>
              <a:t>The PixelRex Crew</a:t>
            </a:r>
            <a:endParaRPr b="0" lang="en-IN" sz="800" spc="-1" strike="noStrike">
              <a:latin typeface="Arial"/>
            </a:endParaRPr>
          </a:p>
        </p:txBody>
      </p:sp>
      <p:sp>
        <p:nvSpPr>
          <p:cNvPr id="62" name="Text 5"/>
          <p:cNvSpPr/>
          <p:nvPr/>
        </p:nvSpPr>
        <p:spPr>
          <a:xfrm>
            <a:off x="1783080" y="201240"/>
            <a:ext cx="822924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3300" spc="-1" strike="noStrike">
                <a:solidFill>
                  <a:srgbClr val="1a1a1a"/>
                </a:solidFill>
                <a:latin typeface="Times New Roman"/>
                <a:ea typeface="Times New Roman"/>
              </a:rPr>
              <a:t>IDEA TITLE</a:t>
            </a:r>
            <a:endParaRPr b="0" lang="en-IN" sz="3300" spc="-1" strike="noStrike">
              <a:latin typeface="Arial"/>
            </a:endParaRPr>
          </a:p>
        </p:txBody>
      </p:sp>
      <p:sp>
        <p:nvSpPr>
          <p:cNvPr id="63" name="Text 6"/>
          <p:cNvSpPr/>
          <p:nvPr/>
        </p:nvSpPr>
        <p:spPr>
          <a:xfrm>
            <a:off x="1783080" y="859680"/>
            <a:ext cx="8229240" cy="2556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400" spc="-1" strike="noStrike">
                <a:solidFill>
                  <a:srgbClr val="1f497d"/>
                </a:solidFill>
                <a:latin typeface="Times New Roman"/>
                <a:ea typeface="Times New Roman"/>
              </a:rPr>
              <a:t>Proposed Solution (Describe your Idea / Solution / Prototype)</a:t>
            </a:r>
            <a:endParaRPr b="0" lang="en-IN" sz="1400" spc="-1" strike="noStrike">
              <a:latin typeface="Arial"/>
            </a:endParaRPr>
          </a:p>
        </p:txBody>
      </p:sp>
      <p:sp>
        <p:nvSpPr>
          <p:cNvPr id="64" name="Shape 7"/>
          <p:cNvSpPr/>
          <p:nvPr/>
        </p:nvSpPr>
        <p:spPr>
          <a:xfrm>
            <a:off x="411480" y="1188720"/>
            <a:ext cx="11365560" cy="639720"/>
          </a:xfrm>
          <a:prstGeom prst="roundRect">
            <a:avLst>
              <a:gd name="adj" fmla="val 7143"/>
            </a:avLst>
          </a:prstGeom>
          <a:solidFill>
            <a:srgbClr val="dce6f1"/>
          </a:solidFill>
          <a:ln w="12700">
            <a:solidFill>
              <a:srgbClr val="1f497d"/>
            </a:solidFill>
            <a:round/>
          </a:ln>
        </p:spPr>
        <p:style>
          <a:lnRef idx="0"/>
          <a:fillRef idx="0"/>
          <a:effectRef idx="0"/>
          <a:fontRef idx="minor"/>
        </p:style>
      </p:sp>
      <p:sp>
        <p:nvSpPr>
          <p:cNvPr id="65" name="Text 8"/>
          <p:cNvSpPr/>
          <p:nvPr/>
        </p:nvSpPr>
        <p:spPr>
          <a:xfrm>
            <a:off x="557640" y="1207080"/>
            <a:ext cx="11072880" cy="603000"/>
          </a:xfrm>
          <a:prstGeom prst="rect">
            <a:avLst/>
          </a:prstGeom>
          <a:noFill/>
          <a:ln w="0">
            <a:noFill/>
          </a:ln>
        </p:spPr>
        <p:style>
          <a:lnRef idx="0"/>
          <a:fillRef idx="0"/>
          <a:effectRef idx="0"/>
          <a:fontRef idx="minor"/>
        </p:style>
        <p:txBody>
          <a:bodyPr lIns="0" rIns="0" tIns="0" bIns="0" anchor="ctr">
            <a:noAutofit/>
          </a:bodyPr>
          <a:p>
            <a:pPr>
              <a:lnSpc>
                <a:spcPct val="95000"/>
              </a:lnSpc>
              <a:buNone/>
              <a:tabLst>
                <a:tab algn="l" pos="0"/>
              </a:tabLst>
            </a:pPr>
            <a:r>
              <a:rPr b="1" lang="en-US" sz="1250" spc="-1" strike="noStrike">
                <a:solidFill>
                  <a:srgbClr val="1f497d"/>
                </a:solidFill>
                <a:latin typeface="Arial"/>
                <a:ea typeface="Arial"/>
              </a:rPr>
              <a:t>Stolen money does not vanish. It sits in a chain of borrowed bank accounts for hours — then someone walks to an ATM in a far-away district and takes it out in cash.</a:t>
            </a:r>
            <a:endParaRPr b="0" lang="en-IN" sz="1250" spc="-1" strike="noStrike">
              <a:latin typeface="Arial"/>
            </a:endParaRPr>
          </a:p>
          <a:p>
            <a:pPr>
              <a:lnSpc>
                <a:spcPct val="95000"/>
              </a:lnSpc>
              <a:buNone/>
              <a:tabLst>
                <a:tab algn="l" pos="0"/>
              </a:tabLst>
            </a:pPr>
            <a:r>
              <a:rPr b="0" lang="en-US" sz="1100" spc="-1" strike="noStrike">
                <a:solidFill>
                  <a:srgbClr val="1a1a1a"/>
                </a:solidFill>
                <a:latin typeface="Arial"/>
                <a:ea typeface="Arial"/>
              </a:rPr>
              <a:t>Those few hours are the only chance to act. The systems in use today study what has already happened; they do not say where the next withdrawal will be.</a:t>
            </a:r>
            <a:endParaRPr b="0" lang="en-IN" sz="1100" spc="-1" strike="noStrike">
              <a:latin typeface="Arial"/>
            </a:endParaRPr>
          </a:p>
        </p:txBody>
      </p:sp>
      <p:sp>
        <p:nvSpPr>
          <p:cNvPr id="66" name="Text 9"/>
          <p:cNvSpPr/>
          <p:nvPr/>
        </p:nvSpPr>
        <p:spPr>
          <a:xfrm>
            <a:off x="411480" y="1920240"/>
            <a:ext cx="352008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How it addresses the problem</a:t>
            </a:r>
            <a:endParaRPr b="0" lang="en-IN" sz="1300" spc="-1" strike="noStrike">
              <a:latin typeface="Arial"/>
            </a:endParaRPr>
          </a:p>
        </p:txBody>
      </p:sp>
      <p:sp>
        <p:nvSpPr>
          <p:cNvPr id="67" name="Shape 10"/>
          <p:cNvSpPr/>
          <p:nvPr/>
        </p:nvSpPr>
        <p:spPr>
          <a:xfrm>
            <a:off x="411480" y="2176200"/>
            <a:ext cx="3520080" cy="2239920"/>
          </a:xfrm>
          <a:prstGeom prst="roundRect">
            <a:avLst>
              <a:gd name="adj" fmla="val 2041"/>
            </a:avLst>
          </a:prstGeom>
          <a:solidFill>
            <a:srgbClr val="eff4fa"/>
          </a:solidFill>
          <a:ln w="12700">
            <a:solidFill>
              <a:srgbClr val="ffffff"/>
            </a:solidFill>
            <a:round/>
          </a:ln>
        </p:spPr>
        <p:style>
          <a:lnRef idx="0"/>
          <a:fillRef idx="0"/>
          <a:effectRef idx="0"/>
          <a:fontRef idx="minor"/>
        </p:style>
      </p:sp>
      <p:sp>
        <p:nvSpPr>
          <p:cNvPr id="68" name="Text 11"/>
          <p:cNvSpPr/>
          <p:nvPr/>
        </p:nvSpPr>
        <p:spPr>
          <a:xfrm>
            <a:off x="539640" y="2267640"/>
            <a:ext cx="326412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c0504d"/>
                </a:solidFill>
                <a:latin typeface="Arial"/>
                <a:ea typeface="Arial"/>
              </a:rPr>
              <a:t>TODAY</a:t>
            </a:r>
            <a:endParaRPr b="0" lang="en-IN" sz="1000" spc="-1" strike="noStrike">
              <a:latin typeface="Arial"/>
            </a:endParaRPr>
          </a:p>
        </p:txBody>
      </p:sp>
      <p:sp>
        <p:nvSpPr>
          <p:cNvPr id="69" name="Text 12"/>
          <p:cNvSpPr/>
          <p:nvPr/>
        </p:nvSpPr>
        <p:spPr>
          <a:xfrm>
            <a:off x="557640" y="2505600"/>
            <a:ext cx="3227400" cy="71280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400"/>
              </a:spcAft>
              <a:buClr>
                <a:srgbClr val="1a1a1a"/>
              </a:buClr>
              <a:buFont typeface="StarSymbol"/>
              <a:buChar char="▪"/>
            </a:pPr>
            <a:r>
              <a:rPr b="0" lang="en-US" sz="900" spc="-1" strike="noStrike">
                <a:solidFill>
                  <a:srgbClr val="1a1a1a"/>
                </a:solidFill>
                <a:latin typeface="Arial"/>
                <a:ea typeface="Arial"/>
              </a:rPr>
              <a:t>The complaint is filed only after the money is gone</a:t>
            </a:r>
            <a:endParaRPr b="0" lang="en-IN" sz="900" spc="-1" strike="noStrike">
              <a:latin typeface="Arial"/>
            </a:endParaRPr>
          </a:p>
          <a:p>
            <a:pPr marL="343080" indent="-343080">
              <a:lnSpc>
                <a:spcPct val="95000"/>
              </a:lnSpc>
              <a:spcAft>
                <a:spcPts val="400"/>
              </a:spcAft>
              <a:buClr>
                <a:srgbClr val="1a1a1a"/>
              </a:buClr>
              <a:buFont typeface="StarSymbol"/>
              <a:buChar char="▪"/>
            </a:pPr>
            <a:r>
              <a:rPr b="0" lang="en-US" sz="900" spc="-1" strike="noStrike">
                <a:solidFill>
                  <a:srgbClr val="1a1a1a"/>
                </a:solidFill>
                <a:latin typeface="Arial"/>
                <a:ea typeface="Arial"/>
              </a:rPr>
              <a:t>Police and banks chase the trail account by account</a:t>
            </a:r>
            <a:endParaRPr b="0" lang="en-IN" sz="900" spc="-1" strike="noStrike">
              <a:latin typeface="Arial"/>
            </a:endParaRPr>
          </a:p>
          <a:p>
            <a:pPr marL="343080" indent="-343080">
              <a:lnSpc>
                <a:spcPct val="95000"/>
              </a:lnSpc>
              <a:buClr>
                <a:srgbClr val="1a1a1a"/>
              </a:buClr>
              <a:buFont typeface="StarSymbol"/>
              <a:buChar char="▪"/>
            </a:pPr>
            <a:r>
              <a:rPr b="0" lang="en-US" sz="900" spc="-1" strike="noStrike">
                <a:solidFill>
                  <a:srgbClr val="1a1a1a"/>
                </a:solidFill>
                <a:latin typeface="Arial"/>
                <a:ea typeface="Arial"/>
              </a:rPr>
              <a:t>The cash is usually withdrawn before anyone reaches the ATM</a:t>
            </a:r>
            <a:endParaRPr b="0" lang="en-IN" sz="900" spc="-1" strike="noStrike">
              <a:latin typeface="Arial"/>
            </a:endParaRPr>
          </a:p>
        </p:txBody>
      </p:sp>
      <p:sp>
        <p:nvSpPr>
          <p:cNvPr id="70" name="Text 13"/>
          <p:cNvSpPr/>
          <p:nvPr/>
        </p:nvSpPr>
        <p:spPr>
          <a:xfrm>
            <a:off x="539640" y="3255120"/>
            <a:ext cx="326412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4f6228"/>
                </a:solidFill>
                <a:latin typeface="Arial"/>
                <a:ea typeface="Arial"/>
              </a:rPr>
              <a:t>WITH FRAUDLENS</a:t>
            </a:r>
            <a:endParaRPr b="0" lang="en-IN" sz="1000" spc="-1" strike="noStrike">
              <a:latin typeface="Arial"/>
            </a:endParaRPr>
          </a:p>
        </p:txBody>
      </p:sp>
      <p:sp>
        <p:nvSpPr>
          <p:cNvPr id="71" name="Text 14"/>
          <p:cNvSpPr/>
          <p:nvPr/>
        </p:nvSpPr>
        <p:spPr>
          <a:xfrm>
            <a:off x="557640" y="3493080"/>
            <a:ext cx="3227400" cy="82260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400"/>
              </a:spcAft>
              <a:buClr>
                <a:srgbClr val="1a1a1a"/>
              </a:buClr>
              <a:buFont typeface="StarSymbol"/>
              <a:buChar char="▪"/>
            </a:pPr>
            <a:r>
              <a:rPr b="0" lang="en-US" sz="900" spc="-1" strike="noStrike">
                <a:solidFill>
                  <a:srgbClr val="1a1a1a"/>
                </a:solidFill>
                <a:latin typeface="Arial"/>
                <a:ea typeface="Arial"/>
              </a:rPr>
              <a:t>The money is watched while it is still moving</a:t>
            </a:r>
            <a:endParaRPr b="0" lang="en-IN" sz="900" spc="-1" strike="noStrike">
              <a:latin typeface="Arial"/>
            </a:endParaRPr>
          </a:p>
          <a:p>
            <a:pPr marL="343080" indent="-343080">
              <a:lnSpc>
                <a:spcPct val="95000"/>
              </a:lnSpc>
              <a:spcAft>
                <a:spcPts val="400"/>
              </a:spcAft>
              <a:buClr>
                <a:srgbClr val="1a1a1a"/>
              </a:buClr>
              <a:buFont typeface="StarSymbol"/>
              <a:buChar char="▪"/>
            </a:pPr>
            <a:r>
              <a:rPr b="0" lang="en-US" sz="900" spc="-1" strike="noStrike">
                <a:solidFill>
                  <a:srgbClr val="1a1a1a"/>
                </a:solidFill>
                <a:latin typeface="Arial"/>
                <a:ea typeface="Arial"/>
              </a:rPr>
              <a:t>The districts most likely to see a withdrawal in the next 6 hours are named</a:t>
            </a:r>
            <a:endParaRPr b="0" lang="en-IN" sz="900" spc="-1" strike="noStrike">
              <a:latin typeface="Arial"/>
            </a:endParaRPr>
          </a:p>
          <a:p>
            <a:pPr marL="343080" indent="-343080">
              <a:lnSpc>
                <a:spcPct val="95000"/>
              </a:lnSpc>
              <a:buClr>
                <a:srgbClr val="1a1a1a"/>
              </a:buClr>
              <a:buFont typeface="StarSymbol"/>
              <a:buChar char="▪"/>
            </a:pPr>
            <a:r>
              <a:rPr b="0" lang="en-US" sz="900" spc="-1" strike="noStrike">
                <a:solidFill>
                  <a:srgbClr val="1a1a1a"/>
                </a:solidFill>
                <a:latin typeface="Arial"/>
                <a:ea typeface="Arial"/>
              </a:rPr>
              <a:t>The alert reaches the right officer or bank before the cash comes out</a:t>
            </a:r>
            <a:endParaRPr b="0" lang="en-IN" sz="900" spc="-1" strike="noStrike">
              <a:latin typeface="Arial"/>
            </a:endParaRPr>
          </a:p>
        </p:txBody>
      </p:sp>
      <p:sp>
        <p:nvSpPr>
          <p:cNvPr id="72" name="Text 15"/>
          <p:cNvSpPr/>
          <p:nvPr/>
        </p:nvSpPr>
        <p:spPr>
          <a:xfrm>
            <a:off x="4206240" y="1920240"/>
            <a:ext cx="39315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Detailed explanation of the proposed solution</a:t>
            </a:r>
            <a:endParaRPr b="0" lang="en-IN" sz="1300" spc="-1" strike="noStrike">
              <a:latin typeface="Arial"/>
            </a:endParaRPr>
          </a:p>
        </p:txBody>
      </p:sp>
      <p:sp>
        <p:nvSpPr>
          <p:cNvPr id="73" name="Shape 16"/>
          <p:cNvSpPr/>
          <p:nvPr/>
        </p:nvSpPr>
        <p:spPr>
          <a:xfrm>
            <a:off x="4206240" y="2176200"/>
            <a:ext cx="3931560" cy="2239920"/>
          </a:xfrm>
          <a:prstGeom prst="roundRect">
            <a:avLst>
              <a:gd name="adj" fmla="val 2041"/>
            </a:avLst>
          </a:prstGeom>
          <a:solidFill>
            <a:srgbClr val="ffffff"/>
          </a:solidFill>
          <a:ln w="12700">
            <a:solidFill>
              <a:srgbClr val="4f81bd"/>
            </a:solidFill>
            <a:round/>
          </a:ln>
        </p:spPr>
        <p:style>
          <a:lnRef idx="0"/>
          <a:fillRef idx="0"/>
          <a:effectRef idx="0"/>
          <a:fontRef idx="minor"/>
        </p:style>
      </p:sp>
      <p:sp>
        <p:nvSpPr>
          <p:cNvPr id="74" name="Shape 17"/>
          <p:cNvSpPr/>
          <p:nvPr/>
        </p:nvSpPr>
        <p:spPr>
          <a:xfrm>
            <a:off x="4352400" y="2304360"/>
            <a:ext cx="3638880" cy="383760"/>
          </a:xfrm>
          <a:prstGeom prst="roundRect">
            <a:avLst>
              <a:gd name="adj" fmla="val 11905"/>
            </a:avLst>
          </a:prstGeom>
          <a:solidFill>
            <a:srgbClr val="f2f2f2"/>
          </a:solidFill>
          <a:ln w="12700">
            <a:solidFill>
              <a:srgbClr val="ffffff"/>
            </a:solidFill>
            <a:round/>
          </a:ln>
        </p:spPr>
        <p:style>
          <a:lnRef idx="0"/>
          <a:fillRef idx="0"/>
          <a:effectRef idx="0"/>
          <a:fontRef idx="minor"/>
        </p:style>
      </p:sp>
      <p:sp>
        <p:nvSpPr>
          <p:cNvPr id="75" name="Text 18"/>
          <p:cNvSpPr/>
          <p:nvPr/>
        </p:nvSpPr>
        <p:spPr>
          <a:xfrm>
            <a:off x="4352400" y="2304360"/>
            <a:ext cx="36388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1a1a1a"/>
                </a:solidFill>
                <a:latin typeface="Arial"/>
                <a:ea typeface="Arial"/>
              </a:rPr>
              <a:t>VICTIM  </a:t>
            </a:r>
            <a:r>
              <a:rPr b="0" lang="en-US" sz="900" spc="-1" strike="noStrike">
                <a:solidFill>
                  <a:srgbClr val="595959"/>
                </a:solidFill>
                <a:latin typeface="Arial"/>
                <a:ea typeface="Arial"/>
              </a:rPr>
              <a:t>· money stolen, complaint filed</a:t>
            </a:r>
            <a:endParaRPr b="0" lang="en-IN" sz="900" spc="-1" strike="noStrike">
              <a:latin typeface="Arial"/>
            </a:endParaRPr>
          </a:p>
        </p:txBody>
      </p:sp>
      <p:sp>
        <p:nvSpPr>
          <p:cNvPr id="76" name="Shape 19"/>
          <p:cNvSpPr/>
          <p:nvPr/>
        </p:nvSpPr>
        <p:spPr>
          <a:xfrm>
            <a:off x="6089760" y="2724840"/>
            <a:ext cx="164160" cy="136800"/>
          </a:xfrm>
          <a:prstGeom prst="down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77" name="Shape 20"/>
          <p:cNvSpPr/>
          <p:nvPr/>
        </p:nvSpPr>
        <p:spPr>
          <a:xfrm>
            <a:off x="4352400" y="2880360"/>
            <a:ext cx="3638880" cy="621360"/>
          </a:xfrm>
          <a:prstGeom prst="roundRect">
            <a:avLst>
              <a:gd name="adj" fmla="val 7353"/>
            </a:avLst>
          </a:prstGeom>
          <a:solidFill>
            <a:srgbClr val="1f497d"/>
          </a:solidFill>
          <a:ln w="12700">
            <a:solidFill>
              <a:srgbClr val="ffffff"/>
            </a:solidFill>
            <a:round/>
          </a:ln>
        </p:spPr>
        <p:style>
          <a:lnRef idx="0"/>
          <a:fillRef idx="0"/>
          <a:effectRef idx="0"/>
          <a:fontRef idx="minor"/>
        </p:style>
      </p:sp>
      <p:sp>
        <p:nvSpPr>
          <p:cNvPr id="78" name="Text 21"/>
          <p:cNvSpPr/>
          <p:nvPr/>
        </p:nvSpPr>
        <p:spPr>
          <a:xfrm>
            <a:off x="4352400" y="2880360"/>
            <a:ext cx="3638880" cy="621360"/>
          </a:xfrm>
          <a:prstGeom prst="rect">
            <a:avLst/>
          </a:prstGeom>
          <a:noFill/>
          <a:ln w="0">
            <a:noFill/>
          </a:ln>
        </p:spPr>
        <p:style>
          <a:lnRef idx="0"/>
          <a:fillRef idx="0"/>
          <a:effectRef idx="0"/>
          <a:fontRef idx="minor"/>
        </p:style>
        <p:txBody>
          <a:bodyPr lIns="0" rIns="0" tIns="0" bIns="0" anchor="ctr">
            <a:noAutofit/>
          </a:bodyPr>
          <a:p>
            <a:pPr algn="ctr">
              <a:lnSpc>
                <a:spcPct val="92000"/>
              </a:lnSpc>
              <a:buNone/>
              <a:tabLst>
                <a:tab algn="l" pos="0"/>
              </a:tabLst>
            </a:pPr>
            <a:r>
              <a:rPr b="1" lang="en-US" sz="1050" spc="-1" strike="noStrike">
                <a:solidFill>
                  <a:srgbClr val="ffffff"/>
                </a:solidFill>
                <a:latin typeface="Arial"/>
                <a:ea typeface="Arial"/>
              </a:rPr>
              <a:t>THE MONEY IS STILL MOVING</a:t>
            </a:r>
            <a:endParaRPr b="0" lang="en-IN" sz="1050" spc="-1" strike="noStrike">
              <a:latin typeface="Arial"/>
            </a:endParaRPr>
          </a:p>
          <a:p>
            <a:pPr algn="ctr">
              <a:lnSpc>
                <a:spcPct val="92000"/>
              </a:lnSpc>
              <a:buNone/>
              <a:tabLst>
                <a:tab algn="l" pos="0"/>
              </a:tabLst>
            </a:pPr>
            <a:r>
              <a:rPr b="0" lang="en-US" sz="900" spc="-1" strike="noStrike">
                <a:solidFill>
                  <a:srgbClr val="cadcfc"/>
                </a:solidFill>
                <a:latin typeface="Arial"/>
                <a:ea typeface="Arial"/>
              </a:rPr>
              <a:t>passed between borrowed accounts for hours</a:t>
            </a:r>
            <a:endParaRPr b="0" lang="en-IN" sz="900" spc="-1" strike="noStrike">
              <a:latin typeface="Arial"/>
            </a:endParaRPr>
          </a:p>
          <a:p>
            <a:pPr algn="ctr">
              <a:lnSpc>
                <a:spcPct val="92000"/>
              </a:lnSpc>
              <a:buNone/>
              <a:tabLst>
                <a:tab algn="l" pos="0"/>
              </a:tabLst>
            </a:pPr>
            <a:r>
              <a:rPr b="1" lang="en-US" sz="950" spc="-1" strike="noStrike">
                <a:solidFill>
                  <a:srgbClr val="ffd24d"/>
                </a:solidFill>
                <a:latin typeface="Arial"/>
                <a:ea typeface="Arial"/>
              </a:rPr>
              <a:t>FraudLens predicts HERE</a:t>
            </a:r>
            <a:endParaRPr b="0" lang="en-IN" sz="950" spc="-1" strike="noStrike">
              <a:latin typeface="Arial"/>
            </a:endParaRPr>
          </a:p>
        </p:txBody>
      </p:sp>
      <p:sp>
        <p:nvSpPr>
          <p:cNvPr id="79" name="Shape 22"/>
          <p:cNvSpPr/>
          <p:nvPr/>
        </p:nvSpPr>
        <p:spPr>
          <a:xfrm>
            <a:off x="6089760" y="3538800"/>
            <a:ext cx="164160" cy="136800"/>
          </a:xfrm>
          <a:prstGeom prst="down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80" name="Shape 23"/>
          <p:cNvSpPr/>
          <p:nvPr/>
        </p:nvSpPr>
        <p:spPr>
          <a:xfrm>
            <a:off x="4352400" y="3694320"/>
            <a:ext cx="3638880" cy="383760"/>
          </a:xfrm>
          <a:prstGeom prst="roundRect">
            <a:avLst>
              <a:gd name="adj" fmla="val 11905"/>
            </a:avLst>
          </a:prstGeom>
          <a:solidFill>
            <a:srgbClr val="f7e4e3"/>
          </a:solidFill>
          <a:ln w="12700">
            <a:solidFill>
              <a:srgbClr val="ffffff"/>
            </a:solidFill>
            <a:round/>
          </a:ln>
        </p:spPr>
        <p:style>
          <a:lnRef idx="0"/>
          <a:fillRef idx="0"/>
          <a:effectRef idx="0"/>
          <a:fontRef idx="minor"/>
        </p:style>
      </p:sp>
      <p:sp>
        <p:nvSpPr>
          <p:cNvPr id="81" name="Text 24"/>
          <p:cNvSpPr/>
          <p:nvPr/>
        </p:nvSpPr>
        <p:spPr>
          <a:xfrm>
            <a:off x="4352400" y="3694320"/>
            <a:ext cx="36388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c0504d"/>
                </a:solidFill>
                <a:latin typeface="Arial"/>
                <a:ea typeface="Arial"/>
              </a:rPr>
              <a:t>ATM CASH-OUT  </a:t>
            </a:r>
            <a:r>
              <a:rPr b="0" lang="en-US" sz="900" spc="-1" strike="noStrike">
                <a:solidFill>
                  <a:srgbClr val="595959"/>
                </a:solidFill>
                <a:latin typeface="Arial"/>
                <a:ea typeface="Arial"/>
              </a:rPr>
              <a:t>· often in another state</a:t>
            </a:r>
            <a:endParaRPr b="0" lang="en-IN" sz="900" spc="-1" strike="noStrike">
              <a:latin typeface="Arial"/>
            </a:endParaRPr>
          </a:p>
        </p:txBody>
      </p:sp>
      <p:sp>
        <p:nvSpPr>
          <p:cNvPr id="82" name="Text 25"/>
          <p:cNvSpPr/>
          <p:nvPr/>
        </p:nvSpPr>
        <p:spPr>
          <a:xfrm>
            <a:off x="4352400" y="4133160"/>
            <a:ext cx="3638880" cy="292320"/>
          </a:xfrm>
          <a:prstGeom prst="rect">
            <a:avLst/>
          </a:prstGeom>
          <a:noFill/>
          <a:ln w="0">
            <a:noFill/>
          </a:ln>
        </p:spPr>
        <p:style>
          <a:lnRef idx="0"/>
          <a:fillRef idx="0"/>
          <a:effectRef idx="0"/>
          <a:fontRef idx="minor"/>
        </p:style>
        <p:txBody>
          <a:bodyPr lIns="0" rIns="0" tIns="0" bIns="0" anchor="t">
            <a:noAutofit/>
          </a:bodyPr>
          <a:p>
            <a:pPr algn="ctr">
              <a:lnSpc>
                <a:spcPct val="92000"/>
              </a:lnSpc>
              <a:buNone/>
              <a:tabLst>
                <a:tab algn="l" pos="0"/>
              </a:tabLst>
            </a:pPr>
            <a:r>
              <a:rPr b="0" i="1" lang="en-US" sz="800" spc="-1" strike="noStrike">
                <a:solidFill>
                  <a:srgbClr val="595959"/>
                </a:solidFill>
                <a:latin typeface="Arial"/>
                <a:ea typeface="Arial"/>
              </a:rPr>
              <a:t>A criminal can change the district, the hour and the amount. He cannot take the cash out without first moving it through accounts.</a:t>
            </a:r>
            <a:endParaRPr b="0" lang="en-IN" sz="800" spc="-1" strike="noStrike">
              <a:latin typeface="Arial"/>
            </a:endParaRPr>
          </a:p>
        </p:txBody>
      </p:sp>
      <p:sp>
        <p:nvSpPr>
          <p:cNvPr id="83" name="Text 26"/>
          <p:cNvSpPr/>
          <p:nvPr/>
        </p:nvSpPr>
        <p:spPr>
          <a:xfrm>
            <a:off x="8275320" y="1920240"/>
            <a:ext cx="350172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What the system actually does</a:t>
            </a:r>
            <a:endParaRPr b="0" lang="en-IN" sz="1300" spc="-1" strike="noStrike">
              <a:latin typeface="Arial"/>
            </a:endParaRPr>
          </a:p>
        </p:txBody>
      </p:sp>
      <p:sp>
        <p:nvSpPr>
          <p:cNvPr id="84" name="Shape 27"/>
          <p:cNvSpPr/>
          <p:nvPr/>
        </p:nvSpPr>
        <p:spPr>
          <a:xfrm>
            <a:off x="8275320" y="2176200"/>
            <a:ext cx="3501720" cy="2239920"/>
          </a:xfrm>
          <a:prstGeom prst="roundRect">
            <a:avLst>
              <a:gd name="adj" fmla="val 2041"/>
            </a:avLst>
          </a:prstGeom>
          <a:solidFill>
            <a:srgbClr val="eff4fa"/>
          </a:solidFill>
          <a:ln w="12700">
            <a:solidFill>
              <a:srgbClr val="ffffff"/>
            </a:solidFill>
            <a:round/>
          </a:ln>
        </p:spPr>
        <p:style>
          <a:lnRef idx="0"/>
          <a:fillRef idx="0"/>
          <a:effectRef idx="0"/>
          <a:fontRef idx="minor"/>
        </p:style>
      </p:sp>
      <p:sp>
        <p:nvSpPr>
          <p:cNvPr id="85" name="Text 28"/>
          <p:cNvSpPr/>
          <p:nvPr/>
        </p:nvSpPr>
        <p:spPr>
          <a:xfrm>
            <a:off x="8403480" y="2304360"/>
            <a:ext cx="3264120" cy="197460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700"/>
              </a:spcAft>
              <a:buClr>
                <a:srgbClr val="1a1a1a"/>
              </a:buClr>
              <a:buFont typeface="StarSymbol"/>
              <a:buChar char="▪"/>
            </a:pPr>
            <a:r>
              <a:rPr b="0" lang="en-US" sz="950" spc="-1" strike="noStrike">
                <a:solidFill>
                  <a:srgbClr val="1a1a1a"/>
                </a:solidFill>
                <a:latin typeface="Arial"/>
                <a:ea typeface="Arial"/>
              </a:rPr>
              <a:t>Gives every district in India a risk score for the next 6 hours</a:t>
            </a:r>
            <a:endParaRPr b="0" lang="en-IN" sz="950" spc="-1" strike="noStrike">
              <a:latin typeface="Arial"/>
            </a:endParaRPr>
          </a:p>
          <a:p>
            <a:pPr marL="343080" indent="-343080">
              <a:lnSpc>
                <a:spcPct val="95000"/>
              </a:lnSpc>
              <a:spcAft>
                <a:spcPts val="700"/>
              </a:spcAft>
              <a:buClr>
                <a:srgbClr val="1a1a1a"/>
              </a:buClr>
              <a:buFont typeface="StarSymbol"/>
              <a:buChar char="▪"/>
            </a:pPr>
            <a:r>
              <a:rPr b="0" lang="en-US" sz="950" spc="-1" strike="noStrike">
                <a:solidFill>
                  <a:srgbClr val="1a1a1a"/>
                </a:solidFill>
                <a:latin typeface="Arial"/>
                <a:ea typeface="Arial"/>
              </a:rPr>
              <a:t>Shows them as a colour-coded map of the country</a:t>
            </a:r>
            <a:endParaRPr b="0" lang="en-IN" sz="950" spc="-1" strike="noStrike">
              <a:latin typeface="Arial"/>
            </a:endParaRPr>
          </a:p>
          <a:p>
            <a:pPr marL="343080" indent="-343080">
              <a:lnSpc>
                <a:spcPct val="95000"/>
              </a:lnSpc>
              <a:spcAft>
                <a:spcPts val="700"/>
              </a:spcAft>
              <a:buClr>
                <a:srgbClr val="1a1a1a"/>
              </a:buClr>
              <a:buFont typeface="StarSymbol"/>
              <a:buChar char="▪"/>
            </a:pPr>
            <a:r>
              <a:rPr b="0" lang="en-US" sz="950" spc="-1" strike="noStrike">
                <a:solidFill>
                  <a:srgbClr val="1a1a1a"/>
                </a:solidFill>
                <a:latin typeface="Arial"/>
                <a:ea typeface="Arial"/>
              </a:rPr>
              <a:t>Raises an alert naming the district — and the reason it was flagged</a:t>
            </a:r>
            <a:endParaRPr b="0" lang="en-IN" sz="950" spc="-1" strike="noStrike">
              <a:latin typeface="Arial"/>
            </a:endParaRPr>
          </a:p>
          <a:p>
            <a:pPr marL="343080" indent="-343080">
              <a:lnSpc>
                <a:spcPct val="95000"/>
              </a:lnSpc>
              <a:spcAft>
                <a:spcPts val="700"/>
              </a:spcAft>
              <a:buClr>
                <a:srgbClr val="1a1a1a"/>
              </a:buClr>
              <a:buFont typeface="StarSymbol"/>
              <a:buChar char="▪"/>
            </a:pPr>
            <a:r>
              <a:rPr b="0" lang="en-US" sz="950" spc="-1" strike="noStrike">
                <a:solidFill>
                  <a:srgbClr val="1a1a1a"/>
                </a:solidFill>
                <a:latin typeface="Arial"/>
                <a:ea typeface="Arial"/>
              </a:rPr>
              <a:t>Gives I4C, State Police and Banks separate views, each seeing only what it should</a:t>
            </a:r>
            <a:endParaRPr b="0" lang="en-IN" sz="950" spc="-1" strike="noStrike">
              <a:latin typeface="Arial"/>
            </a:endParaRPr>
          </a:p>
          <a:p>
            <a:pPr marL="343080" indent="-343080">
              <a:lnSpc>
                <a:spcPct val="95000"/>
              </a:lnSpc>
              <a:buClr>
                <a:srgbClr val="1a1a1a"/>
              </a:buClr>
              <a:buFont typeface="StarSymbol"/>
              <a:buChar char="▪"/>
            </a:pPr>
            <a:r>
              <a:rPr b="0" lang="en-US" sz="950" spc="-1" strike="noStrike">
                <a:solidFill>
                  <a:srgbClr val="1a1a1a"/>
                </a:solidFill>
                <a:latin typeface="Arial"/>
                <a:ea typeface="Arial"/>
              </a:rPr>
              <a:t>Prints a ready-to-use intelligence report for every alert</a:t>
            </a:r>
            <a:endParaRPr b="0" lang="en-IN" sz="950" spc="-1" strike="noStrike">
              <a:latin typeface="Arial"/>
            </a:endParaRPr>
          </a:p>
        </p:txBody>
      </p:sp>
      <p:sp>
        <p:nvSpPr>
          <p:cNvPr id="86" name="Text 29"/>
          <p:cNvSpPr/>
          <p:nvPr/>
        </p:nvSpPr>
        <p:spPr>
          <a:xfrm>
            <a:off x="411480" y="4498920"/>
            <a:ext cx="113655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Innovation and uniqueness of the solution</a:t>
            </a:r>
            <a:endParaRPr b="0" lang="en-IN" sz="1300" spc="-1" strike="noStrike">
              <a:latin typeface="Arial"/>
            </a:endParaRPr>
          </a:p>
        </p:txBody>
      </p:sp>
      <p:sp>
        <p:nvSpPr>
          <p:cNvPr id="87" name="Shape 30"/>
          <p:cNvSpPr/>
          <p:nvPr/>
        </p:nvSpPr>
        <p:spPr>
          <a:xfrm>
            <a:off x="411480" y="4773240"/>
            <a:ext cx="2697120" cy="1407960"/>
          </a:xfrm>
          <a:prstGeom prst="roundRect">
            <a:avLst>
              <a:gd name="adj" fmla="val 3247"/>
            </a:avLst>
          </a:prstGeom>
          <a:solidFill>
            <a:srgbClr val="dce6f1"/>
          </a:solidFill>
          <a:ln w="12700">
            <a:solidFill>
              <a:srgbClr val="ffffff"/>
            </a:solidFill>
            <a:round/>
          </a:ln>
        </p:spPr>
        <p:style>
          <a:lnRef idx="0"/>
          <a:fillRef idx="0"/>
          <a:effectRef idx="0"/>
          <a:fontRef idx="minor"/>
        </p:style>
      </p:sp>
      <p:sp>
        <p:nvSpPr>
          <p:cNvPr id="88" name="Text 31"/>
          <p:cNvSpPr/>
          <p:nvPr/>
        </p:nvSpPr>
        <p:spPr>
          <a:xfrm>
            <a:off x="539640" y="4864680"/>
            <a:ext cx="2441160" cy="1225080"/>
          </a:xfrm>
          <a:prstGeom prst="rect">
            <a:avLst/>
          </a:prstGeom>
          <a:noFill/>
          <a:ln w="0">
            <a:noFill/>
          </a:ln>
        </p:spPr>
        <p:style>
          <a:lnRef idx="0"/>
          <a:fillRef idx="0"/>
          <a:effectRef idx="0"/>
          <a:fontRef idx="minor"/>
        </p:style>
        <p:txBody>
          <a:bodyPr lIns="0" rIns="0" tIns="0" bIns="0" anchor="ctr">
            <a:noAutofit/>
          </a:bodyPr>
          <a:p>
            <a:pPr>
              <a:lnSpc>
                <a:spcPct val="95000"/>
              </a:lnSpc>
              <a:spcAft>
                <a:spcPts val="400"/>
              </a:spcAft>
              <a:buNone/>
              <a:tabLst>
                <a:tab algn="l" pos="0"/>
              </a:tabLst>
            </a:pPr>
            <a:r>
              <a:rPr b="1" lang="en-US" sz="1050" spc="-1" strike="noStrike">
                <a:solidFill>
                  <a:srgbClr val="1f497d"/>
                </a:solidFill>
                <a:latin typeface="Arial"/>
                <a:ea typeface="Arial"/>
              </a:rPr>
              <a:t>We follow the money, not the map</a:t>
            </a:r>
            <a:endParaRPr b="0" lang="en-IN" sz="1050" spc="-1" strike="noStrike">
              <a:latin typeface="Arial"/>
            </a:endParaRPr>
          </a:p>
          <a:p>
            <a:pPr>
              <a:lnSpc>
                <a:spcPct val="95000"/>
              </a:lnSpc>
              <a:buNone/>
              <a:tabLst>
                <a:tab algn="l" pos="0"/>
              </a:tabLst>
            </a:pPr>
            <a:r>
              <a:rPr b="0" lang="en-US" sz="900" spc="-1" strike="noStrike">
                <a:solidFill>
                  <a:srgbClr val="1a1a1a"/>
                </a:solidFill>
                <a:latin typeface="Arial"/>
                <a:ea typeface="Arial"/>
              </a:rPr>
              <a:t>Most systems study where fraud happened in the past. We watch where the stolen money is sitting right now.</a:t>
            </a:r>
            <a:endParaRPr b="0" lang="en-IN" sz="900" spc="-1" strike="noStrike">
              <a:latin typeface="Arial"/>
            </a:endParaRPr>
          </a:p>
        </p:txBody>
      </p:sp>
      <p:sp>
        <p:nvSpPr>
          <p:cNvPr id="89" name="Shape 32"/>
          <p:cNvSpPr/>
          <p:nvPr/>
        </p:nvSpPr>
        <p:spPr>
          <a:xfrm>
            <a:off x="3300840" y="4773240"/>
            <a:ext cx="2697120" cy="1407960"/>
          </a:xfrm>
          <a:prstGeom prst="roundRect">
            <a:avLst>
              <a:gd name="adj" fmla="val 3247"/>
            </a:avLst>
          </a:prstGeom>
          <a:solidFill>
            <a:srgbClr val="eaf1dd"/>
          </a:solidFill>
          <a:ln w="12700">
            <a:solidFill>
              <a:srgbClr val="ffffff"/>
            </a:solidFill>
            <a:round/>
          </a:ln>
        </p:spPr>
        <p:style>
          <a:lnRef idx="0"/>
          <a:fillRef idx="0"/>
          <a:effectRef idx="0"/>
          <a:fontRef idx="minor"/>
        </p:style>
      </p:sp>
      <p:sp>
        <p:nvSpPr>
          <p:cNvPr id="90" name="Text 33"/>
          <p:cNvSpPr/>
          <p:nvPr/>
        </p:nvSpPr>
        <p:spPr>
          <a:xfrm>
            <a:off x="3429000" y="4864680"/>
            <a:ext cx="2441160" cy="1225080"/>
          </a:xfrm>
          <a:prstGeom prst="rect">
            <a:avLst/>
          </a:prstGeom>
          <a:noFill/>
          <a:ln w="0">
            <a:noFill/>
          </a:ln>
        </p:spPr>
        <p:style>
          <a:lnRef idx="0"/>
          <a:fillRef idx="0"/>
          <a:effectRef idx="0"/>
          <a:fontRef idx="minor"/>
        </p:style>
        <p:txBody>
          <a:bodyPr lIns="0" rIns="0" tIns="0" bIns="0" anchor="ctr">
            <a:noAutofit/>
          </a:bodyPr>
          <a:p>
            <a:pPr>
              <a:lnSpc>
                <a:spcPct val="95000"/>
              </a:lnSpc>
              <a:spcAft>
                <a:spcPts val="400"/>
              </a:spcAft>
              <a:buNone/>
              <a:tabLst>
                <a:tab algn="l" pos="0"/>
              </a:tabLst>
            </a:pPr>
            <a:r>
              <a:rPr b="1" lang="en-US" sz="1050" spc="-1" strike="noStrike">
                <a:solidFill>
                  <a:srgbClr val="4f6228"/>
                </a:solidFill>
                <a:latin typeface="Arial"/>
                <a:ea typeface="Arial"/>
              </a:rPr>
              <a:t>We use the waiting time</a:t>
            </a:r>
            <a:endParaRPr b="0" lang="en-IN" sz="1050" spc="-1" strike="noStrike">
              <a:latin typeface="Arial"/>
            </a:endParaRPr>
          </a:p>
          <a:p>
            <a:pPr>
              <a:lnSpc>
                <a:spcPct val="95000"/>
              </a:lnSpc>
              <a:buNone/>
              <a:tabLst>
                <a:tab algn="l" pos="0"/>
              </a:tabLst>
            </a:pPr>
            <a:r>
              <a:rPr b="0" lang="en-US" sz="900" spc="-1" strike="noStrike">
                <a:solidFill>
                  <a:srgbClr val="1a1a1a"/>
                </a:solidFill>
                <a:latin typeface="Arial"/>
                <a:ea typeface="Arial"/>
              </a:rPr>
              <a:t>The hours the money spends in borrowed accounts are ignored today. That is exactly the window we predict in.</a:t>
            </a:r>
            <a:endParaRPr b="0" lang="en-IN" sz="900" spc="-1" strike="noStrike">
              <a:latin typeface="Arial"/>
            </a:endParaRPr>
          </a:p>
        </p:txBody>
      </p:sp>
      <p:sp>
        <p:nvSpPr>
          <p:cNvPr id="91" name="Shape 34"/>
          <p:cNvSpPr/>
          <p:nvPr/>
        </p:nvSpPr>
        <p:spPr>
          <a:xfrm>
            <a:off x="6190560" y="4773240"/>
            <a:ext cx="2697120" cy="1407960"/>
          </a:xfrm>
          <a:prstGeom prst="roundRect">
            <a:avLst>
              <a:gd name="adj" fmla="val 3247"/>
            </a:avLst>
          </a:prstGeom>
          <a:solidFill>
            <a:srgbClr val="fdeada"/>
          </a:solidFill>
          <a:ln w="12700">
            <a:solidFill>
              <a:srgbClr val="ffffff"/>
            </a:solidFill>
            <a:round/>
          </a:ln>
        </p:spPr>
        <p:style>
          <a:lnRef idx="0"/>
          <a:fillRef idx="0"/>
          <a:effectRef idx="0"/>
          <a:fontRef idx="minor"/>
        </p:style>
      </p:sp>
      <p:sp>
        <p:nvSpPr>
          <p:cNvPr id="92" name="Text 35"/>
          <p:cNvSpPr/>
          <p:nvPr/>
        </p:nvSpPr>
        <p:spPr>
          <a:xfrm>
            <a:off x="6318360" y="4864680"/>
            <a:ext cx="2441160" cy="1225080"/>
          </a:xfrm>
          <a:prstGeom prst="rect">
            <a:avLst/>
          </a:prstGeom>
          <a:noFill/>
          <a:ln w="0">
            <a:noFill/>
          </a:ln>
        </p:spPr>
        <p:style>
          <a:lnRef idx="0"/>
          <a:fillRef idx="0"/>
          <a:effectRef idx="0"/>
          <a:fontRef idx="minor"/>
        </p:style>
        <p:txBody>
          <a:bodyPr lIns="0" rIns="0" tIns="0" bIns="0" anchor="ctr">
            <a:noAutofit/>
          </a:bodyPr>
          <a:p>
            <a:pPr>
              <a:lnSpc>
                <a:spcPct val="95000"/>
              </a:lnSpc>
              <a:spcAft>
                <a:spcPts val="400"/>
              </a:spcAft>
              <a:buNone/>
              <a:tabLst>
                <a:tab algn="l" pos="0"/>
              </a:tabLst>
            </a:pPr>
            <a:r>
              <a:rPr b="1" lang="en-US" sz="1050" spc="-1" strike="noStrike">
                <a:solidFill>
                  <a:srgbClr val="e36c0a"/>
                </a:solidFill>
                <a:latin typeface="Arial"/>
                <a:ea typeface="Arial"/>
              </a:rPr>
              <a:t>Every alert has an owner</a:t>
            </a:r>
            <a:endParaRPr b="0" lang="en-IN" sz="1050" spc="-1" strike="noStrike">
              <a:latin typeface="Arial"/>
            </a:endParaRPr>
          </a:p>
          <a:p>
            <a:pPr>
              <a:lnSpc>
                <a:spcPct val="95000"/>
              </a:lnSpc>
              <a:buNone/>
              <a:tabLst>
                <a:tab algn="l" pos="0"/>
              </a:tabLst>
            </a:pPr>
            <a:r>
              <a:rPr b="0" lang="en-US" sz="900" spc="-1" strike="noStrike">
                <a:solidFill>
                  <a:srgbClr val="1a1a1a"/>
                </a:solidFill>
                <a:latin typeface="Arial"/>
                <a:ea typeface="Arial"/>
              </a:rPr>
              <a:t>If the money is heading to another state, the referral goes to that state's officer — not into a dashboard nobody owns.</a:t>
            </a:r>
            <a:endParaRPr b="0" lang="en-IN" sz="900" spc="-1" strike="noStrike">
              <a:latin typeface="Arial"/>
            </a:endParaRPr>
          </a:p>
        </p:txBody>
      </p:sp>
      <p:sp>
        <p:nvSpPr>
          <p:cNvPr id="93" name="Shape 36"/>
          <p:cNvSpPr/>
          <p:nvPr/>
        </p:nvSpPr>
        <p:spPr>
          <a:xfrm>
            <a:off x="9079920" y="4773240"/>
            <a:ext cx="2697120" cy="1407960"/>
          </a:xfrm>
          <a:prstGeom prst="roundRect">
            <a:avLst>
              <a:gd name="adj" fmla="val 3247"/>
            </a:avLst>
          </a:prstGeom>
          <a:solidFill>
            <a:srgbClr val="f7e4e3"/>
          </a:solidFill>
          <a:ln w="12700">
            <a:solidFill>
              <a:srgbClr val="ffffff"/>
            </a:solidFill>
            <a:round/>
          </a:ln>
        </p:spPr>
        <p:style>
          <a:lnRef idx="0"/>
          <a:fillRef idx="0"/>
          <a:effectRef idx="0"/>
          <a:fontRef idx="minor"/>
        </p:style>
      </p:sp>
      <p:sp>
        <p:nvSpPr>
          <p:cNvPr id="94" name="Text 37"/>
          <p:cNvSpPr/>
          <p:nvPr/>
        </p:nvSpPr>
        <p:spPr>
          <a:xfrm>
            <a:off x="9208080" y="4864680"/>
            <a:ext cx="2441160" cy="1225080"/>
          </a:xfrm>
          <a:prstGeom prst="rect">
            <a:avLst/>
          </a:prstGeom>
          <a:noFill/>
          <a:ln w="0">
            <a:noFill/>
          </a:ln>
        </p:spPr>
        <p:style>
          <a:lnRef idx="0"/>
          <a:fillRef idx="0"/>
          <a:effectRef idx="0"/>
          <a:fontRef idx="minor"/>
        </p:style>
        <p:txBody>
          <a:bodyPr lIns="0" rIns="0" tIns="0" bIns="0" anchor="ctr">
            <a:noAutofit/>
          </a:bodyPr>
          <a:p>
            <a:pPr>
              <a:lnSpc>
                <a:spcPct val="95000"/>
              </a:lnSpc>
              <a:spcAft>
                <a:spcPts val="400"/>
              </a:spcAft>
              <a:buNone/>
              <a:tabLst>
                <a:tab algn="l" pos="0"/>
              </a:tabLst>
            </a:pPr>
            <a:r>
              <a:rPr b="1" lang="en-US" sz="1050" spc="-1" strike="noStrike">
                <a:solidFill>
                  <a:srgbClr val="c0504d"/>
                </a:solidFill>
                <a:latin typeface="Arial"/>
                <a:ea typeface="Arial"/>
              </a:rPr>
              <a:t>It explains itself</a:t>
            </a:r>
            <a:endParaRPr b="0" lang="en-IN" sz="1050" spc="-1" strike="noStrike">
              <a:latin typeface="Arial"/>
            </a:endParaRPr>
          </a:p>
          <a:p>
            <a:pPr>
              <a:lnSpc>
                <a:spcPct val="95000"/>
              </a:lnSpc>
              <a:buNone/>
              <a:tabLst>
                <a:tab algn="l" pos="0"/>
              </a:tabLst>
            </a:pPr>
            <a:r>
              <a:rPr b="0" lang="en-US" sz="900" spc="-1" strike="noStrike">
                <a:solidFill>
                  <a:srgbClr val="1a1a1a"/>
                </a:solidFill>
                <a:latin typeface="Arial"/>
                <a:ea typeface="Arial"/>
              </a:rPr>
              <a:t>Every alert says why that district was flagged, so an officer can judge it instead of trusting a black box.</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5" name="Image 0" descr="tpl/sih_logo.png"/>
          <p:cNvPicPr/>
          <p:nvPr/>
        </p:nvPicPr>
        <p:blipFill>
          <a:blip r:embed="rId1"/>
          <a:stretch/>
        </p:blipFill>
        <p:spPr>
          <a:xfrm>
            <a:off x="10113120" y="118800"/>
            <a:ext cx="1691280" cy="802440"/>
          </a:xfrm>
          <a:prstGeom prst="rect">
            <a:avLst/>
          </a:prstGeom>
          <a:ln w="0">
            <a:noFill/>
          </a:ln>
        </p:spPr>
      </p:pic>
      <p:sp>
        <p:nvSpPr>
          <p:cNvPr id="96" name="Shape 0"/>
          <p:cNvSpPr/>
          <p:nvPr/>
        </p:nvSpPr>
        <p:spPr>
          <a:xfrm>
            <a:off x="180000" y="7679880"/>
            <a:ext cx="12191400" cy="420120"/>
          </a:xfrm>
          <a:prstGeom prst="rect">
            <a:avLst/>
          </a:prstGeom>
          <a:solidFill>
            <a:srgbClr val="0070c0"/>
          </a:solidFill>
          <a:ln w="0">
            <a:noFill/>
          </a:ln>
        </p:spPr>
        <p:style>
          <a:lnRef idx="0"/>
          <a:fillRef idx="0"/>
          <a:effectRef idx="0"/>
          <a:fontRef idx="minor"/>
        </p:style>
      </p:sp>
      <p:sp>
        <p:nvSpPr>
          <p:cNvPr id="97" name="Text 1"/>
          <p:cNvSpPr/>
          <p:nvPr/>
        </p:nvSpPr>
        <p:spPr>
          <a:xfrm>
            <a:off x="3840480" y="6455520"/>
            <a:ext cx="448020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00" spc="-1" strike="noStrike">
                <a:solidFill>
                  <a:srgbClr val="ffffff"/>
                </a:solidFill>
                <a:latin typeface="Arial"/>
                <a:ea typeface="Arial"/>
              </a:rPr>
              <a:t>@SIH Idea submission- Template</a:t>
            </a:r>
            <a:endParaRPr b="0" lang="en-IN" sz="900" spc="-1" strike="noStrike">
              <a:latin typeface="Arial"/>
            </a:endParaRPr>
          </a:p>
        </p:txBody>
      </p:sp>
      <p:sp>
        <p:nvSpPr>
          <p:cNvPr id="98" name="Text 2"/>
          <p:cNvSpPr/>
          <p:nvPr/>
        </p:nvSpPr>
        <p:spPr>
          <a:xfrm>
            <a:off x="11247120" y="6455520"/>
            <a:ext cx="5482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Arial"/>
                <a:ea typeface="Arial"/>
              </a:rPr>
              <a:t>3</a:t>
            </a:r>
            <a:endParaRPr b="0" lang="en-IN" sz="900" spc="-1" strike="noStrike">
              <a:latin typeface="Arial"/>
            </a:endParaRPr>
          </a:p>
        </p:txBody>
      </p:sp>
      <p:sp>
        <p:nvSpPr>
          <p:cNvPr id="99" name="Shape 3"/>
          <p:cNvSpPr/>
          <p:nvPr/>
        </p:nvSpPr>
        <p:spPr>
          <a:xfrm>
            <a:off x="365760" y="118800"/>
            <a:ext cx="1261440" cy="639720"/>
          </a:xfrm>
          <a:prstGeom prst="ellipse">
            <a:avLst/>
          </a:prstGeom>
          <a:solidFill>
            <a:srgbClr val="ffffff"/>
          </a:solidFill>
          <a:ln w="15875">
            <a:solidFill>
              <a:srgbClr val="7030a0"/>
            </a:solidFill>
            <a:round/>
          </a:ln>
        </p:spPr>
        <p:style>
          <a:lnRef idx="0"/>
          <a:fillRef idx="0"/>
          <a:effectRef idx="0"/>
          <a:fontRef idx="minor"/>
        </p:style>
      </p:sp>
      <p:sp>
        <p:nvSpPr>
          <p:cNvPr id="100" name="Text 4"/>
          <p:cNvSpPr/>
          <p:nvPr/>
        </p:nvSpPr>
        <p:spPr>
          <a:xfrm>
            <a:off x="411480" y="137160"/>
            <a:ext cx="117000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1f497d"/>
                </a:solidFill>
                <a:latin typeface="Arial"/>
                <a:ea typeface="Arial"/>
              </a:rPr>
              <a:t>The PixelRex Crew</a:t>
            </a:r>
            <a:endParaRPr b="0" lang="en-IN" sz="800" spc="-1" strike="noStrike">
              <a:latin typeface="Arial"/>
            </a:endParaRPr>
          </a:p>
        </p:txBody>
      </p:sp>
      <p:sp>
        <p:nvSpPr>
          <p:cNvPr id="101" name="Text 5"/>
          <p:cNvSpPr/>
          <p:nvPr/>
        </p:nvSpPr>
        <p:spPr>
          <a:xfrm>
            <a:off x="1783080" y="201240"/>
            <a:ext cx="822924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3300" spc="-1" strike="noStrike">
                <a:solidFill>
                  <a:srgbClr val="1a1a1a"/>
                </a:solidFill>
                <a:latin typeface="Times New Roman"/>
                <a:ea typeface="Times New Roman"/>
              </a:rPr>
              <a:t>TECHNICAL APPROACH</a:t>
            </a:r>
            <a:endParaRPr b="0" lang="en-IN" sz="3300" spc="-1" strike="noStrike">
              <a:latin typeface="Arial"/>
            </a:endParaRPr>
          </a:p>
        </p:txBody>
      </p:sp>
      <p:sp>
        <p:nvSpPr>
          <p:cNvPr id="102" name="Text 6"/>
          <p:cNvSpPr/>
          <p:nvPr/>
        </p:nvSpPr>
        <p:spPr>
          <a:xfrm>
            <a:off x="411480" y="859680"/>
            <a:ext cx="113655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Methodology and process for implementation</a:t>
            </a:r>
            <a:endParaRPr b="0" lang="en-IN" sz="1300" spc="-1" strike="noStrike">
              <a:latin typeface="Arial"/>
            </a:endParaRPr>
          </a:p>
        </p:txBody>
      </p:sp>
      <p:sp>
        <p:nvSpPr>
          <p:cNvPr id="103" name="Shape 7"/>
          <p:cNvSpPr/>
          <p:nvPr/>
        </p:nvSpPr>
        <p:spPr>
          <a:xfrm>
            <a:off x="411480" y="1188720"/>
            <a:ext cx="1718640" cy="877320"/>
          </a:xfrm>
          <a:prstGeom prst="roundRect">
            <a:avLst>
              <a:gd name="adj" fmla="val 5208"/>
            </a:avLst>
          </a:prstGeom>
          <a:solidFill>
            <a:srgbClr val="dce6f1"/>
          </a:solidFill>
          <a:ln w="12700">
            <a:solidFill>
              <a:srgbClr val="4f81bd"/>
            </a:solidFill>
            <a:round/>
          </a:ln>
        </p:spPr>
        <p:style>
          <a:lnRef idx="0"/>
          <a:fillRef idx="0"/>
          <a:effectRef idx="0"/>
          <a:fontRef idx="minor"/>
        </p:style>
      </p:sp>
      <p:sp>
        <p:nvSpPr>
          <p:cNvPr id="104" name="Text 8"/>
          <p:cNvSpPr/>
          <p:nvPr/>
        </p:nvSpPr>
        <p:spPr>
          <a:xfrm>
            <a:off x="475560" y="1243440"/>
            <a:ext cx="1590840" cy="767880"/>
          </a:xfrm>
          <a:prstGeom prst="rect">
            <a:avLst/>
          </a:prstGeom>
          <a:noFill/>
          <a:ln w="0">
            <a:noFill/>
          </a:ln>
        </p:spPr>
        <p:style>
          <a:lnRef idx="0"/>
          <a:fillRef idx="0"/>
          <a:effectRef idx="0"/>
          <a:fontRef idx="minor"/>
        </p:style>
        <p:txBody>
          <a:bodyPr lIns="0" rIns="0" tIns="0" bIns="0" anchor="ctr">
            <a:noAutofit/>
          </a:bodyPr>
          <a:p>
            <a:pPr algn="ctr">
              <a:lnSpc>
                <a:spcPct val="92000"/>
              </a:lnSpc>
              <a:spcAft>
                <a:spcPts val="300"/>
              </a:spcAft>
              <a:buNone/>
              <a:tabLst>
                <a:tab algn="l" pos="0"/>
              </a:tabLst>
            </a:pPr>
            <a:r>
              <a:rPr b="1" lang="en-US" sz="900" spc="-1" strike="noStrike">
                <a:solidFill>
                  <a:srgbClr val="1f497d"/>
                </a:solidFill>
                <a:latin typeface="Arial"/>
                <a:ea typeface="Arial"/>
              </a:rPr>
              <a:t>DATA LAYER</a:t>
            </a:r>
            <a:endParaRPr b="0" lang="en-IN" sz="9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complaints · mule</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transactions · ATMs</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withdrawals</a:t>
            </a:r>
            <a:endParaRPr b="0" lang="en-IN" sz="800" spc="-1" strike="noStrike">
              <a:latin typeface="Arial"/>
            </a:endParaRPr>
          </a:p>
        </p:txBody>
      </p:sp>
      <p:sp>
        <p:nvSpPr>
          <p:cNvPr id="105" name="Shape 9"/>
          <p:cNvSpPr/>
          <p:nvPr/>
        </p:nvSpPr>
        <p:spPr>
          <a:xfrm>
            <a:off x="2171880" y="1563480"/>
            <a:ext cx="127800" cy="127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106" name="Shape 10"/>
          <p:cNvSpPr/>
          <p:nvPr/>
        </p:nvSpPr>
        <p:spPr>
          <a:xfrm>
            <a:off x="2340720" y="1188720"/>
            <a:ext cx="1718640" cy="877320"/>
          </a:xfrm>
          <a:prstGeom prst="roundRect">
            <a:avLst>
              <a:gd name="adj" fmla="val 5208"/>
            </a:avLst>
          </a:prstGeom>
          <a:solidFill>
            <a:srgbClr val="dce6f1"/>
          </a:solidFill>
          <a:ln w="12700">
            <a:solidFill>
              <a:srgbClr val="4f81bd"/>
            </a:solidFill>
            <a:round/>
          </a:ln>
        </p:spPr>
        <p:style>
          <a:lnRef idx="0"/>
          <a:fillRef idx="0"/>
          <a:effectRef idx="0"/>
          <a:fontRef idx="minor"/>
        </p:style>
      </p:sp>
      <p:sp>
        <p:nvSpPr>
          <p:cNvPr id="107" name="Text 11"/>
          <p:cNvSpPr/>
          <p:nvPr/>
        </p:nvSpPr>
        <p:spPr>
          <a:xfrm>
            <a:off x="2404800" y="1243440"/>
            <a:ext cx="1590840" cy="767880"/>
          </a:xfrm>
          <a:prstGeom prst="rect">
            <a:avLst/>
          </a:prstGeom>
          <a:noFill/>
          <a:ln w="0">
            <a:noFill/>
          </a:ln>
        </p:spPr>
        <p:style>
          <a:lnRef idx="0"/>
          <a:fillRef idx="0"/>
          <a:effectRef idx="0"/>
          <a:fontRef idx="minor"/>
        </p:style>
        <p:txBody>
          <a:bodyPr lIns="0" rIns="0" tIns="0" bIns="0" anchor="ctr">
            <a:noAutofit/>
          </a:bodyPr>
          <a:p>
            <a:pPr algn="ctr">
              <a:lnSpc>
                <a:spcPct val="92000"/>
              </a:lnSpc>
              <a:spcAft>
                <a:spcPts val="300"/>
              </a:spcAft>
              <a:buNone/>
              <a:tabLst>
                <a:tab algn="l" pos="0"/>
              </a:tabLst>
            </a:pPr>
            <a:r>
              <a:rPr b="1" lang="en-US" sz="900" spc="-1" strike="noStrike">
                <a:solidFill>
                  <a:srgbClr val="1f497d"/>
                </a:solidFill>
                <a:latin typeface="Arial"/>
                <a:ea typeface="Arial"/>
              </a:rPr>
              <a:t>CHAIN RECONSTRUCTION</a:t>
            </a:r>
            <a:endParaRPr b="0" lang="en-IN" sz="9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chain depth · fan-out</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hop count</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holding time</a:t>
            </a:r>
            <a:endParaRPr b="0" lang="en-IN" sz="800" spc="-1" strike="noStrike">
              <a:latin typeface="Arial"/>
            </a:endParaRPr>
          </a:p>
        </p:txBody>
      </p:sp>
      <p:sp>
        <p:nvSpPr>
          <p:cNvPr id="108" name="Shape 12"/>
          <p:cNvSpPr/>
          <p:nvPr/>
        </p:nvSpPr>
        <p:spPr>
          <a:xfrm>
            <a:off x="4101120" y="1563480"/>
            <a:ext cx="127800" cy="127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109" name="Shape 13"/>
          <p:cNvSpPr/>
          <p:nvPr/>
        </p:nvSpPr>
        <p:spPr>
          <a:xfrm>
            <a:off x="4270320" y="1188720"/>
            <a:ext cx="1718640" cy="877320"/>
          </a:xfrm>
          <a:prstGeom prst="roundRect">
            <a:avLst>
              <a:gd name="adj" fmla="val 5208"/>
            </a:avLst>
          </a:prstGeom>
          <a:solidFill>
            <a:srgbClr val="dce6f1"/>
          </a:solidFill>
          <a:ln w="12700">
            <a:solidFill>
              <a:srgbClr val="4f81bd"/>
            </a:solidFill>
            <a:round/>
          </a:ln>
        </p:spPr>
        <p:style>
          <a:lnRef idx="0"/>
          <a:fillRef idx="0"/>
          <a:effectRef idx="0"/>
          <a:fontRef idx="minor"/>
        </p:style>
      </p:sp>
      <p:sp>
        <p:nvSpPr>
          <p:cNvPr id="110" name="Text 14"/>
          <p:cNvSpPr/>
          <p:nvPr/>
        </p:nvSpPr>
        <p:spPr>
          <a:xfrm>
            <a:off x="4334400" y="1243440"/>
            <a:ext cx="1590840" cy="767880"/>
          </a:xfrm>
          <a:prstGeom prst="rect">
            <a:avLst/>
          </a:prstGeom>
          <a:noFill/>
          <a:ln w="0">
            <a:noFill/>
          </a:ln>
        </p:spPr>
        <p:style>
          <a:lnRef idx="0"/>
          <a:fillRef idx="0"/>
          <a:effectRef idx="0"/>
          <a:fontRef idx="minor"/>
        </p:style>
        <p:txBody>
          <a:bodyPr lIns="0" rIns="0" tIns="0" bIns="0" anchor="ctr">
            <a:noAutofit/>
          </a:bodyPr>
          <a:p>
            <a:pPr algn="ctr">
              <a:lnSpc>
                <a:spcPct val="92000"/>
              </a:lnSpc>
              <a:spcAft>
                <a:spcPts val="300"/>
              </a:spcAft>
              <a:buNone/>
              <a:tabLst>
                <a:tab algn="l" pos="0"/>
              </a:tabLst>
            </a:pPr>
            <a:r>
              <a:rPr b="1" lang="en-US" sz="900" spc="-1" strike="noStrike">
                <a:solidFill>
                  <a:srgbClr val="1f497d"/>
                </a:solidFill>
                <a:latin typeface="Arial"/>
                <a:ea typeface="Arial"/>
              </a:rPr>
              <a:t>FEATURE PIPELINE</a:t>
            </a:r>
            <a:endParaRPr b="0" lang="en-IN" sz="9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724 × 1,460 =</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1,057,040 rows</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42 features</a:t>
            </a:r>
            <a:endParaRPr b="0" lang="en-IN" sz="800" spc="-1" strike="noStrike">
              <a:latin typeface="Arial"/>
            </a:endParaRPr>
          </a:p>
        </p:txBody>
      </p:sp>
      <p:sp>
        <p:nvSpPr>
          <p:cNvPr id="111" name="Shape 15"/>
          <p:cNvSpPr/>
          <p:nvPr/>
        </p:nvSpPr>
        <p:spPr>
          <a:xfrm>
            <a:off x="6030360" y="1563480"/>
            <a:ext cx="127800" cy="127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112" name="Shape 16"/>
          <p:cNvSpPr/>
          <p:nvPr/>
        </p:nvSpPr>
        <p:spPr>
          <a:xfrm>
            <a:off x="6199560" y="1188720"/>
            <a:ext cx="1718640" cy="877320"/>
          </a:xfrm>
          <a:prstGeom prst="roundRect">
            <a:avLst>
              <a:gd name="adj" fmla="val 5208"/>
            </a:avLst>
          </a:prstGeom>
          <a:solidFill>
            <a:srgbClr val="1f497d"/>
          </a:solidFill>
          <a:ln w="12700">
            <a:solidFill>
              <a:srgbClr val="1f497d"/>
            </a:solidFill>
            <a:round/>
          </a:ln>
        </p:spPr>
        <p:style>
          <a:lnRef idx="0"/>
          <a:fillRef idx="0"/>
          <a:effectRef idx="0"/>
          <a:fontRef idx="minor"/>
        </p:style>
      </p:sp>
      <p:sp>
        <p:nvSpPr>
          <p:cNvPr id="113" name="Text 17"/>
          <p:cNvSpPr/>
          <p:nvPr/>
        </p:nvSpPr>
        <p:spPr>
          <a:xfrm>
            <a:off x="6263640" y="1243440"/>
            <a:ext cx="1590840" cy="767880"/>
          </a:xfrm>
          <a:prstGeom prst="rect">
            <a:avLst/>
          </a:prstGeom>
          <a:noFill/>
          <a:ln w="0">
            <a:noFill/>
          </a:ln>
        </p:spPr>
        <p:style>
          <a:lnRef idx="0"/>
          <a:fillRef idx="0"/>
          <a:effectRef idx="0"/>
          <a:fontRef idx="minor"/>
        </p:style>
        <p:txBody>
          <a:bodyPr lIns="0" rIns="0" tIns="0" bIns="0" anchor="ctr">
            <a:noAutofit/>
          </a:bodyPr>
          <a:p>
            <a:pPr algn="ctr">
              <a:lnSpc>
                <a:spcPct val="92000"/>
              </a:lnSpc>
              <a:spcAft>
                <a:spcPts val="300"/>
              </a:spcAft>
              <a:buNone/>
              <a:tabLst>
                <a:tab algn="l" pos="0"/>
              </a:tabLst>
            </a:pPr>
            <a:r>
              <a:rPr b="1" lang="en-US" sz="900" spc="-1" strike="noStrike">
                <a:solidFill>
                  <a:srgbClr val="ffffff"/>
                </a:solidFill>
                <a:latin typeface="Arial"/>
                <a:ea typeface="Arial"/>
              </a:rPr>
              <a:t>MODEL</a:t>
            </a:r>
            <a:endParaRPr b="0" lang="en-IN" sz="900" spc="-1" strike="noStrike">
              <a:latin typeface="Arial"/>
            </a:endParaRPr>
          </a:p>
          <a:p>
            <a:pPr algn="ctr">
              <a:lnSpc>
                <a:spcPct val="92000"/>
              </a:lnSpc>
              <a:buNone/>
              <a:tabLst>
                <a:tab algn="l" pos="0"/>
              </a:tabLst>
            </a:pPr>
            <a:r>
              <a:rPr b="0" lang="en-US" sz="800" spc="-1" strike="noStrike">
                <a:solidFill>
                  <a:srgbClr val="cadcfc"/>
                </a:solidFill>
                <a:latin typeface="Arial"/>
                <a:ea typeface="Arial"/>
              </a:rPr>
              <a:t>LightGBM +</a:t>
            </a:r>
            <a:endParaRPr b="0" lang="en-IN" sz="800" spc="-1" strike="noStrike">
              <a:latin typeface="Arial"/>
            </a:endParaRPr>
          </a:p>
          <a:p>
            <a:pPr algn="ctr">
              <a:lnSpc>
                <a:spcPct val="92000"/>
              </a:lnSpc>
              <a:buNone/>
              <a:tabLst>
                <a:tab algn="l" pos="0"/>
              </a:tabLst>
            </a:pPr>
            <a:r>
              <a:rPr b="0" lang="en-US" sz="800" spc="-1" strike="noStrike">
                <a:solidFill>
                  <a:srgbClr val="cadcfc"/>
                </a:solidFill>
                <a:latin typeface="Arial"/>
                <a:ea typeface="Arial"/>
              </a:rPr>
              <a:t>isotonic calibration</a:t>
            </a:r>
            <a:endParaRPr b="0" lang="en-IN" sz="800" spc="-1" strike="noStrike">
              <a:latin typeface="Arial"/>
            </a:endParaRPr>
          </a:p>
          <a:p>
            <a:pPr algn="ctr">
              <a:lnSpc>
                <a:spcPct val="92000"/>
              </a:lnSpc>
              <a:buNone/>
              <a:tabLst>
                <a:tab algn="l" pos="0"/>
              </a:tabLst>
            </a:pPr>
            <a:r>
              <a:rPr b="0" lang="en-US" sz="800" spc="-1" strike="noStrike">
                <a:solidFill>
                  <a:srgbClr val="cadcfc"/>
                </a:solidFill>
                <a:latin typeface="Arial"/>
                <a:ea typeface="Arial"/>
              </a:rPr>
              <a:t>· 22 s retrain</a:t>
            </a:r>
            <a:endParaRPr b="0" lang="en-IN" sz="800" spc="-1" strike="noStrike">
              <a:latin typeface="Arial"/>
            </a:endParaRPr>
          </a:p>
        </p:txBody>
      </p:sp>
      <p:sp>
        <p:nvSpPr>
          <p:cNvPr id="114" name="Shape 18"/>
          <p:cNvSpPr/>
          <p:nvPr/>
        </p:nvSpPr>
        <p:spPr>
          <a:xfrm>
            <a:off x="7959960" y="1563480"/>
            <a:ext cx="127800" cy="127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115" name="Shape 19"/>
          <p:cNvSpPr/>
          <p:nvPr/>
        </p:nvSpPr>
        <p:spPr>
          <a:xfrm>
            <a:off x="8129160" y="1188720"/>
            <a:ext cx="1718640" cy="877320"/>
          </a:xfrm>
          <a:prstGeom prst="roundRect">
            <a:avLst>
              <a:gd name="adj" fmla="val 5208"/>
            </a:avLst>
          </a:prstGeom>
          <a:solidFill>
            <a:srgbClr val="dce6f1"/>
          </a:solidFill>
          <a:ln w="12700">
            <a:solidFill>
              <a:srgbClr val="4f81bd"/>
            </a:solidFill>
            <a:round/>
          </a:ln>
        </p:spPr>
        <p:style>
          <a:lnRef idx="0"/>
          <a:fillRef idx="0"/>
          <a:effectRef idx="0"/>
          <a:fontRef idx="minor"/>
        </p:style>
      </p:sp>
      <p:sp>
        <p:nvSpPr>
          <p:cNvPr id="116" name="Text 20"/>
          <p:cNvSpPr/>
          <p:nvPr/>
        </p:nvSpPr>
        <p:spPr>
          <a:xfrm>
            <a:off x="8192880" y="1243440"/>
            <a:ext cx="1590840" cy="767880"/>
          </a:xfrm>
          <a:prstGeom prst="rect">
            <a:avLst/>
          </a:prstGeom>
          <a:noFill/>
          <a:ln w="0">
            <a:noFill/>
          </a:ln>
        </p:spPr>
        <p:style>
          <a:lnRef idx="0"/>
          <a:fillRef idx="0"/>
          <a:effectRef idx="0"/>
          <a:fontRef idx="minor"/>
        </p:style>
        <p:txBody>
          <a:bodyPr lIns="0" rIns="0" tIns="0" bIns="0" anchor="ctr">
            <a:noAutofit/>
          </a:bodyPr>
          <a:p>
            <a:pPr algn="ctr">
              <a:lnSpc>
                <a:spcPct val="92000"/>
              </a:lnSpc>
              <a:spcAft>
                <a:spcPts val="300"/>
              </a:spcAft>
              <a:buNone/>
              <a:tabLst>
                <a:tab algn="l" pos="0"/>
              </a:tabLst>
            </a:pPr>
            <a:r>
              <a:rPr b="1" lang="en-US" sz="900" spc="-1" strike="noStrike">
                <a:solidFill>
                  <a:srgbClr val="1f497d"/>
                </a:solidFill>
                <a:latin typeface="Arial"/>
                <a:ea typeface="Arial"/>
              </a:rPr>
              <a:t>API + DASHBOARD</a:t>
            </a:r>
            <a:endParaRPr b="0" lang="en-IN" sz="9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FastAPI · React (Vite)</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Leaflet choropleth</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GIS risk map</a:t>
            </a:r>
            <a:endParaRPr b="0" lang="en-IN" sz="800" spc="-1" strike="noStrike">
              <a:latin typeface="Arial"/>
            </a:endParaRPr>
          </a:p>
        </p:txBody>
      </p:sp>
      <p:sp>
        <p:nvSpPr>
          <p:cNvPr id="117" name="Shape 21"/>
          <p:cNvSpPr/>
          <p:nvPr/>
        </p:nvSpPr>
        <p:spPr>
          <a:xfrm>
            <a:off x="9889200" y="1563480"/>
            <a:ext cx="127800" cy="127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118" name="Shape 22"/>
          <p:cNvSpPr/>
          <p:nvPr/>
        </p:nvSpPr>
        <p:spPr>
          <a:xfrm>
            <a:off x="10058400" y="1188720"/>
            <a:ext cx="1718640" cy="877320"/>
          </a:xfrm>
          <a:prstGeom prst="roundRect">
            <a:avLst>
              <a:gd name="adj" fmla="val 5208"/>
            </a:avLst>
          </a:prstGeom>
          <a:solidFill>
            <a:srgbClr val="dce6f1"/>
          </a:solidFill>
          <a:ln w="12700">
            <a:solidFill>
              <a:srgbClr val="4f81bd"/>
            </a:solidFill>
            <a:round/>
          </a:ln>
        </p:spPr>
        <p:style>
          <a:lnRef idx="0"/>
          <a:fillRef idx="0"/>
          <a:effectRef idx="0"/>
          <a:fontRef idx="minor"/>
        </p:style>
      </p:sp>
      <p:sp>
        <p:nvSpPr>
          <p:cNvPr id="119" name="Text 23"/>
          <p:cNvSpPr/>
          <p:nvPr/>
        </p:nvSpPr>
        <p:spPr>
          <a:xfrm>
            <a:off x="10122480" y="1243440"/>
            <a:ext cx="1590840" cy="767880"/>
          </a:xfrm>
          <a:prstGeom prst="rect">
            <a:avLst/>
          </a:prstGeom>
          <a:noFill/>
          <a:ln w="0">
            <a:noFill/>
          </a:ln>
        </p:spPr>
        <p:style>
          <a:lnRef idx="0"/>
          <a:fillRef idx="0"/>
          <a:effectRef idx="0"/>
          <a:fontRef idx="minor"/>
        </p:style>
        <p:txBody>
          <a:bodyPr lIns="0" rIns="0" tIns="0" bIns="0" anchor="ctr">
            <a:noAutofit/>
          </a:bodyPr>
          <a:p>
            <a:pPr algn="ctr">
              <a:lnSpc>
                <a:spcPct val="92000"/>
              </a:lnSpc>
              <a:spcAft>
                <a:spcPts val="300"/>
              </a:spcAft>
              <a:buNone/>
              <a:tabLst>
                <a:tab algn="l" pos="0"/>
              </a:tabLst>
            </a:pPr>
            <a:r>
              <a:rPr b="1" lang="en-US" sz="900" spc="-1" strike="noStrike">
                <a:solidFill>
                  <a:srgbClr val="1f497d"/>
                </a:solidFill>
                <a:latin typeface="Arial"/>
                <a:ea typeface="Arial"/>
              </a:rPr>
              <a:t>ACTION</a:t>
            </a:r>
            <a:endParaRPr b="0" lang="en-IN" sz="9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3 role views · alerts</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reason codes</a:t>
            </a:r>
            <a:endParaRPr b="0" lang="en-IN" sz="800" spc="-1" strike="noStrike">
              <a:latin typeface="Arial"/>
            </a:endParaRPr>
          </a:p>
          <a:p>
            <a:pPr algn="ctr">
              <a:lnSpc>
                <a:spcPct val="92000"/>
              </a:lnSpc>
              <a:buNone/>
              <a:tabLst>
                <a:tab algn="l" pos="0"/>
              </a:tabLst>
            </a:pPr>
            <a:r>
              <a:rPr b="0" lang="en-US" sz="800" spc="-1" strike="noStrike">
                <a:solidFill>
                  <a:srgbClr val="595959"/>
                </a:solidFill>
                <a:latin typeface="Arial"/>
                <a:ea typeface="Arial"/>
              </a:rPr>
              <a:t>· intelligence report</a:t>
            </a:r>
            <a:endParaRPr b="0" lang="en-IN" sz="800" spc="-1" strike="noStrike">
              <a:latin typeface="Arial"/>
            </a:endParaRPr>
          </a:p>
        </p:txBody>
      </p:sp>
      <p:sp>
        <p:nvSpPr>
          <p:cNvPr id="120" name="Shape 24"/>
          <p:cNvSpPr/>
          <p:nvPr/>
        </p:nvSpPr>
        <p:spPr>
          <a:xfrm>
            <a:off x="2788920" y="2176200"/>
            <a:ext cx="6610680" cy="310680"/>
          </a:xfrm>
          <a:prstGeom prst="roundRect">
            <a:avLst>
              <a:gd name="adj" fmla="val 14706"/>
            </a:avLst>
          </a:prstGeom>
          <a:solidFill>
            <a:srgbClr val="eaf1dd"/>
          </a:solidFill>
          <a:ln w="12700">
            <a:solidFill>
              <a:srgbClr val="4f6228"/>
            </a:solidFill>
            <a:round/>
          </a:ln>
        </p:spPr>
        <p:style>
          <a:lnRef idx="0"/>
          <a:fillRef idx="0"/>
          <a:effectRef idx="0"/>
          <a:fontRef idx="minor"/>
        </p:style>
      </p:sp>
      <p:sp>
        <p:nvSpPr>
          <p:cNvPr id="121" name="Text 25"/>
          <p:cNvSpPr/>
          <p:nvPr/>
        </p:nvSpPr>
        <p:spPr>
          <a:xfrm>
            <a:off x="2788920" y="2176200"/>
            <a:ext cx="661068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50" spc="-1" strike="noStrike">
                <a:solidFill>
                  <a:srgbClr val="4f6228"/>
                </a:solidFill>
                <a:latin typeface="Arial"/>
                <a:ea typeface="Arial"/>
              </a:rPr>
              <a:t>AUTOMATED TEMPORAL LEAKAGE TEST — PASSED</a:t>
            </a:r>
            <a:r>
              <a:rPr b="0" lang="en-US" sz="900" spc="-1" strike="noStrike">
                <a:solidFill>
                  <a:srgbClr val="1a1a1a"/>
                </a:solidFill>
                <a:latin typeface="Arial"/>
                <a:ea typeface="Arial"/>
              </a:rPr>
              <a:t>   ·   strict temporal split: months 1–10 train  →  months 11–12 test</a:t>
            </a:r>
            <a:endParaRPr b="0" lang="en-IN" sz="900" spc="-1" strike="noStrike">
              <a:latin typeface="Arial"/>
            </a:endParaRPr>
          </a:p>
        </p:txBody>
      </p:sp>
      <p:sp>
        <p:nvSpPr>
          <p:cNvPr id="122" name="Text 26"/>
          <p:cNvSpPr/>
          <p:nvPr/>
        </p:nvSpPr>
        <p:spPr>
          <a:xfrm>
            <a:off x="411480" y="2670120"/>
            <a:ext cx="50745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Technologies to be used</a:t>
            </a:r>
            <a:endParaRPr b="0" lang="en-IN" sz="1300" spc="-1" strike="noStrike">
              <a:latin typeface="Arial"/>
            </a:endParaRPr>
          </a:p>
        </p:txBody>
      </p:sp>
      <p:sp>
        <p:nvSpPr>
          <p:cNvPr id="123" name="Shape 27"/>
          <p:cNvSpPr/>
          <p:nvPr/>
        </p:nvSpPr>
        <p:spPr>
          <a:xfrm>
            <a:off x="411480" y="2926080"/>
            <a:ext cx="5074560" cy="2121120"/>
          </a:xfrm>
          <a:prstGeom prst="roundRect">
            <a:avLst>
              <a:gd name="adj" fmla="val 2155"/>
            </a:avLst>
          </a:prstGeom>
          <a:solidFill>
            <a:srgbClr val="eff4fa"/>
          </a:solidFill>
          <a:ln w="12700">
            <a:solidFill>
              <a:srgbClr val="ffffff"/>
            </a:solidFill>
            <a:round/>
          </a:ln>
        </p:spPr>
        <p:style>
          <a:lnRef idx="0"/>
          <a:fillRef idx="0"/>
          <a:effectRef idx="0"/>
          <a:fontRef idx="minor"/>
        </p:style>
      </p:sp>
      <p:sp>
        <p:nvSpPr>
          <p:cNvPr id="124" name="Text 28"/>
          <p:cNvSpPr/>
          <p:nvPr/>
        </p:nvSpPr>
        <p:spPr>
          <a:xfrm>
            <a:off x="539640" y="3072240"/>
            <a:ext cx="4818600" cy="191988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1050" spc="-1" strike="noStrike">
                <a:solidFill>
                  <a:srgbClr val="1f497d"/>
                </a:solidFill>
                <a:latin typeface="Arial"/>
                <a:ea typeface="Arial"/>
              </a:rPr>
              <a:t>Data / ML   </a:t>
            </a:r>
            <a:r>
              <a:rPr b="0" lang="en-US" sz="1050" spc="-1" strike="noStrike">
                <a:solidFill>
                  <a:srgbClr val="1a1a1a"/>
                </a:solidFill>
                <a:latin typeface="Arial"/>
                <a:ea typeface="Arial"/>
              </a:rPr>
              <a:t>Python 3.11 · pandas · NumPy · NetworkX · LightGBM · scikit-learn</a:t>
            </a:r>
            <a:endParaRPr b="0" lang="en-IN" sz="1050" spc="-1" strike="noStrike">
              <a:latin typeface="Arial"/>
            </a:endParaRPr>
          </a:p>
          <a:p>
            <a:pPr>
              <a:lnSpc>
                <a:spcPct val="95000"/>
              </a:lnSpc>
              <a:buNone/>
              <a:tabLst>
                <a:tab algn="l" pos="0"/>
              </a:tabLst>
            </a:pPr>
            <a:r>
              <a:rPr b="1" lang="en-US" sz="1050" spc="-1" strike="noStrike">
                <a:solidFill>
                  <a:srgbClr val="1f497d"/>
                </a:solidFill>
                <a:latin typeface="Arial"/>
                <a:ea typeface="Arial"/>
              </a:rPr>
              <a:t>Backend   </a:t>
            </a:r>
            <a:r>
              <a:rPr b="0" lang="en-US" sz="1050" spc="-1" strike="noStrike">
                <a:solidFill>
                  <a:srgbClr val="1a1a1a"/>
                </a:solidFill>
                <a:latin typeface="Arial"/>
                <a:ea typeface="Arial"/>
              </a:rPr>
              <a:t>FastAPI · uvicorn</a:t>
            </a:r>
            <a:endParaRPr b="0" lang="en-IN" sz="1050" spc="-1" strike="noStrike">
              <a:latin typeface="Arial"/>
            </a:endParaRPr>
          </a:p>
          <a:p>
            <a:pPr>
              <a:lnSpc>
                <a:spcPct val="95000"/>
              </a:lnSpc>
              <a:buNone/>
              <a:tabLst>
                <a:tab algn="l" pos="0"/>
              </a:tabLst>
            </a:pPr>
            <a:r>
              <a:rPr b="1" lang="en-US" sz="1050" spc="-1" strike="noStrike">
                <a:solidFill>
                  <a:srgbClr val="1f497d"/>
                </a:solidFill>
                <a:latin typeface="Arial"/>
                <a:ea typeface="Arial"/>
              </a:rPr>
              <a:t>Frontend   </a:t>
            </a:r>
            <a:r>
              <a:rPr b="0" lang="en-US" sz="1050" spc="-1" strike="noStrike">
                <a:solidFill>
                  <a:srgbClr val="1a1a1a"/>
                </a:solidFill>
                <a:latin typeface="Arial"/>
                <a:ea typeface="Arial"/>
              </a:rPr>
              <a:t>React (Vite) · Leaflet</a:t>
            </a:r>
            <a:endParaRPr b="0" lang="en-IN" sz="1050" spc="-1" strike="noStrike">
              <a:latin typeface="Arial"/>
            </a:endParaRPr>
          </a:p>
          <a:p>
            <a:pPr>
              <a:lnSpc>
                <a:spcPct val="95000"/>
              </a:lnSpc>
              <a:buNone/>
              <a:tabLst>
                <a:tab algn="l" pos="0"/>
              </a:tabLst>
            </a:pPr>
            <a:r>
              <a:rPr b="1" lang="en-US" sz="1050" spc="-1" strike="noStrike">
                <a:solidFill>
                  <a:srgbClr val="1f497d"/>
                </a:solidFill>
                <a:latin typeface="Arial"/>
                <a:ea typeface="Arial"/>
              </a:rPr>
              <a:t>Storage / Geo   </a:t>
            </a:r>
            <a:r>
              <a:rPr b="0" lang="en-US" sz="1050" spc="-1" strike="noStrike">
                <a:solidFill>
                  <a:srgbClr val="1a1a1a"/>
                </a:solidFill>
                <a:latin typeface="Arial"/>
                <a:ea typeface="Arial"/>
              </a:rPr>
              <a:t>SQLite · Parquet · Census-2011 district GeoJSON (724 districts)</a:t>
            </a:r>
            <a:endParaRPr b="0" lang="en-IN" sz="1050" spc="-1" strike="noStrike">
              <a:latin typeface="Arial"/>
            </a:endParaRPr>
          </a:p>
          <a:p>
            <a:pPr>
              <a:lnSpc>
                <a:spcPct val="95000"/>
              </a:lnSpc>
              <a:buNone/>
              <a:tabLst>
                <a:tab algn="l" pos="0"/>
              </a:tabLst>
            </a:pPr>
            <a:r>
              <a:rPr b="1" lang="en-US" sz="1050" spc="-1" strike="noStrike">
                <a:solidFill>
                  <a:srgbClr val="1f497d"/>
                </a:solidFill>
                <a:latin typeface="Arial"/>
                <a:ea typeface="Arial"/>
              </a:rPr>
              <a:t>Prediction unit   </a:t>
            </a:r>
            <a:r>
              <a:rPr b="0" lang="en-US" sz="1050" spc="-1" strike="noStrike">
                <a:solidFill>
                  <a:srgbClr val="1a1a1a"/>
                </a:solidFill>
                <a:latin typeface="Arial"/>
                <a:ea typeface="Arial"/>
              </a:rPr>
              <a:t>one district × one 6-hour window · 5.04% positive rate</a:t>
            </a:r>
            <a:endParaRPr b="0" lang="en-IN" sz="1050" spc="-1" strike="noStrike">
              <a:latin typeface="Arial"/>
            </a:endParaRPr>
          </a:p>
        </p:txBody>
      </p:sp>
      <p:sp>
        <p:nvSpPr>
          <p:cNvPr id="125" name="Text 29"/>
          <p:cNvSpPr/>
          <p:nvPr/>
        </p:nvSpPr>
        <p:spPr>
          <a:xfrm>
            <a:off x="5779080" y="2670120"/>
            <a:ext cx="59979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AI / ML component — LightGBM (gradient-boosted decision trees)</a:t>
            </a:r>
            <a:endParaRPr b="0" lang="en-IN" sz="1300" spc="-1" strike="noStrike">
              <a:latin typeface="Arial"/>
            </a:endParaRPr>
          </a:p>
        </p:txBody>
      </p:sp>
      <p:sp>
        <p:nvSpPr>
          <p:cNvPr id="126" name="Shape 30"/>
          <p:cNvSpPr/>
          <p:nvPr/>
        </p:nvSpPr>
        <p:spPr>
          <a:xfrm>
            <a:off x="5779080" y="2926080"/>
            <a:ext cx="5997960" cy="2121120"/>
          </a:xfrm>
          <a:prstGeom prst="roundRect">
            <a:avLst>
              <a:gd name="adj" fmla="val 2155"/>
            </a:avLst>
          </a:prstGeom>
          <a:solidFill>
            <a:srgbClr val="ffffff"/>
          </a:solidFill>
          <a:ln w="12700">
            <a:solidFill>
              <a:srgbClr val="4f81bd"/>
            </a:solidFill>
            <a:round/>
          </a:ln>
        </p:spPr>
        <p:style>
          <a:lnRef idx="0"/>
          <a:fillRef idx="0"/>
          <a:effectRef idx="0"/>
          <a:fontRef idx="minor"/>
        </p:style>
      </p:sp>
      <p:sp>
        <p:nvSpPr>
          <p:cNvPr id="127" name="Text 31"/>
          <p:cNvSpPr/>
          <p:nvPr/>
        </p:nvSpPr>
        <p:spPr>
          <a:xfrm>
            <a:off x="5906880" y="3054240"/>
            <a:ext cx="5742000" cy="193824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1000" spc="-1" strike="noStrike">
                <a:solidFill>
                  <a:srgbClr val="1f497d"/>
                </a:solidFill>
                <a:latin typeface="Arial"/>
                <a:ea typeface="Arial"/>
              </a:rPr>
              <a:t>Task   </a:t>
            </a:r>
            <a:r>
              <a:rPr b="0" lang="en-US" sz="1000" spc="-1" strike="noStrike">
                <a:solidFill>
                  <a:srgbClr val="1a1a1a"/>
                </a:solidFill>
                <a:latin typeface="Arial"/>
                <a:ea typeface="Arial"/>
              </a:rPr>
              <a:t>binary classification per district × 6-hour window</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Input   </a:t>
            </a:r>
            <a:r>
              <a:rPr b="0" lang="en-US" sz="1000" spc="-1" strike="noStrike">
                <a:solidFill>
                  <a:srgbClr val="1a1a1a"/>
                </a:solidFill>
                <a:latin typeface="Arial"/>
                <a:ea typeface="Arial"/>
              </a:rPr>
              <a:t>42 engineered features — static, calendar, rolling withdrawals, neighbourhood, self-excitation, active-hotspot, complaint, live-chain (6)</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Output   </a:t>
            </a:r>
            <a:r>
              <a:rPr b="0" lang="en-US" sz="1000" spc="-1" strike="noStrike">
                <a:solidFill>
                  <a:srgbClr val="1a1a1a"/>
                </a:solidFill>
                <a:latin typeface="Arial"/>
                <a:ea typeface="Arial"/>
              </a:rPr>
              <a:t>calibrated probability + national rank + top reason codes</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Training   </a:t>
            </a:r>
            <a:r>
              <a:rPr b="0" lang="en-US" sz="1000" spc="-1" strike="noStrike">
                <a:solidFill>
                  <a:srgbClr val="1a1a1a"/>
                </a:solidFill>
                <a:latin typeface="Arial"/>
                <a:ea typeface="Arial"/>
              </a:rPr>
              <a:t>scale_pos_weight for imbalance · isotonic calibration on validation · 22 s retrain</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Why LightGBM   </a:t>
            </a:r>
            <a:r>
              <a:rPr b="0" lang="en-US" sz="1000" spc="-1" strike="noStrike">
                <a:solidFill>
                  <a:srgbClr val="1a1a1a"/>
                </a:solidFill>
                <a:latin typeface="Arial"/>
                <a:ea typeface="Arial"/>
              </a:rPr>
              <a:t>explainable per feature and well suited to tabular event data at this scale</a:t>
            </a:r>
            <a:endParaRPr b="0" lang="en-IN" sz="1000" spc="-1" strike="noStrike">
              <a:latin typeface="Arial"/>
            </a:endParaRPr>
          </a:p>
        </p:txBody>
      </p:sp>
      <p:sp>
        <p:nvSpPr>
          <p:cNvPr id="128" name="Shape 32"/>
          <p:cNvSpPr/>
          <p:nvPr/>
        </p:nvSpPr>
        <p:spPr>
          <a:xfrm>
            <a:off x="411480" y="5139000"/>
            <a:ext cx="5577480" cy="1060200"/>
          </a:xfrm>
          <a:prstGeom prst="roundRect">
            <a:avLst>
              <a:gd name="adj" fmla="val 4310"/>
            </a:avLst>
          </a:prstGeom>
          <a:solidFill>
            <a:srgbClr val="eaf1dd"/>
          </a:solidFill>
          <a:ln w="12700">
            <a:solidFill>
              <a:srgbClr val="ffffff"/>
            </a:solidFill>
            <a:round/>
          </a:ln>
        </p:spPr>
        <p:style>
          <a:lnRef idx="0"/>
          <a:fillRef idx="0"/>
          <a:effectRef idx="0"/>
          <a:fontRef idx="minor"/>
        </p:style>
      </p:sp>
      <p:sp>
        <p:nvSpPr>
          <p:cNvPr id="129" name="Text 33"/>
          <p:cNvSpPr/>
          <p:nvPr/>
        </p:nvSpPr>
        <p:spPr>
          <a:xfrm>
            <a:off x="539640" y="5239440"/>
            <a:ext cx="5321520" cy="914040"/>
          </a:xfrm>
          <a:prstGeom prst="rect">
            <a:avLst/>
          </a:prstGeom>
          <a:noFill/>
          <a:ln w="0">
            <a:noFill/>
          </a:ln>
        </p:spPr>
        <p:style>
          <a:lnRef idx="0"/>
          <a:fillRef idx="0"/>
          <a:effectRef idx="0"/>
          <a:fontRef idx="minor"/>
        </p:style>
        <p:txBody>
          <a:bodyPr lIns="0" rIns="0" tIns="0" bIns="0" anchor="t">
            <a:noAutofit/>
          </a:bodyPr>
          <a:p>
            <a:pPr>
              <a:lnSpc>
                <a:spcPct val="95000"/>
              </a:lnSpc>
              <a:spcAft>
                <a:spcPts val="400"/>
              </a:spcAft>
              <a:buNone/>
              <a:tabLst>
                <a:tab algn="l" pos="0"/>
              </a:tabLst>
            </a:pPr>
            <a:r>
              <a:rPr b="1" lang="en-US" sz="1000" spc="-1" strike="noStrike">
                <a:solidFill>
                  <a:srgbClr val="4f6228"/>
                </a:solidFill>
                <a:latin typeface="Arial"/>
                <a:ea typeface="Arial"/>
              </a:rPr>
              <a:t>IMPLEMENTED  (prototype v0.1)</a:t>
            </a:r>
            <a:endParaRPr b="0" lang="en-IN" sz="1000" spc="-1" strike="noStrike">
              <a:latin typeface="Arial"/>
            </a:endParaRPr>
          </a:p>
          <a:p>
            <a:pPr>
              <a:lnSpc>
                <a:spcPct val="95000"/>
              </a:lnSpc>
              <a:buNone/>
              <a:tabLst>
                <a:tab algn="l" pos="0"/>
              </a:tabLst>
            </a:pPr>
            <a:r>
              <a:rPr b="0" lang="en-US" sz="850" spc="-1" strike="noStrike">
                <a:solidFill>
                  <a:srgbClr val="1a1a1a"/>
                </a:solidFill>
                <a:latin typeface="Arial"/>
                <a:ea typeface="Arial"/>
              </a:rPr>
              <a:t>synthetic data engine · 42-feature pipeline · automated leakage test · LightGBM + isotonic calibration · full evaluation against baselines · FastAPI (/heatmap, /alerts, /districts/{id}, /simulate/advance) · React + Leaflet dashboard · three role views with server-side segregation · alert engine · printable intelligence report</a:t>
            </a:r>
            <a:endParaRPr b="0" lang="en-IN" sz="850" spc="-1" strike="noStrike">
              <a:latin typeface="Arial"/>
            </a:endParaRPr>
          </a:p>
        </p:txBody>
      </p:sp>
      <p:sp>
        <p:nvSpPr>
          <p:cNvPr id="130" name="Shape 34"/>
          <p:cNvSpPr/>
          <p:nvPr/>
        </p:nvSpPr>
        <p:spPr>
          <a:xfrm>
            <a:off x="6199560" y="5139000"/>
            <a:ext cx="5577480" cy="1060200"/>
          </a:xfrm>
          <a:prstGeom prst="roundRect">
            <a:avLst>
              <a:gd name="adj" fmla="val 4310"/>
            </a:avLst>
          </a:prstGeom>
          <a:solidFill>
            <a:srgbClr val="dce6f1"/>
          </a:solidFill>
          <a:ln w="12700">
            <a:solidFill>
              <a:srgbClr val="ffffff"/>
            </a:solidFill>
            <a:round/>
          </a:ln>
        </p:spPr>
        <p:style>
          <a:lnRef idx="0"/>
          <a:fillRef idx="0"/>
          <a:effectRef idx="0"/>
          <a:fontRef idx="minor"/>
        </p:style>
      </p:sp>
      <p:sp>
        <p:nvSpPr>
          <p:cNvPr id="131" name="Text 35"/>
          <p:cNvSpPr/>
          <p:nvPr/>
        </p:nvSpPr>
        <p:spPr>
          <a:xfrm>
            <a:off x="6327720" y="5239440"/>
            <a:ext cx="5321520" cy="914040"/>
          </a:xfrm>
          <a:prstGeom prst="rect">
            <a:avLst/>
          </a:prstGeom>
          <a:noFill/>
          <a:ln w="0">
            <a:noFill/>
          </a:ln>
        </p:spPr>
        <p:style>
          <a:lnRef idx="0"/>
          <a:fillRef idx="0"/>
          <a:effectRef idx="0"/>
          <a:fontRef idx="minor"/>
        </p:style>
        <p:txBody>
          <a:bodyPr lIns="0" rIns="0" tIns="0" bIns="0" anchor="t">
            <a:noAutofit/>
          </a:bodyPr>
          <a:p>
            <a:pPr>
              <a:lnSpc>
                <a:spcPct val="95000"/>
              </a:lnSpc>
              <a:spcAft>
                <a:spcPts val="400"/>
              </a:spcAft>
              <a:buNone/>
              <a:tabLst>
                <a:tab algn="l" pos="0"/>
              </a:tabLst>
            </a:pPr>
            <a:r>
              <a:rPr b="1" lang="en-US" sz="1000" spc="-1" strike="noStrike">
                <a:solidFill>
                  <a:srgbClr val="1f497d"/>
                </a:solidFill>
                <a:latin typeface="Arial"/>
                <a:ea typeface="Arial"/>
              </a:rPr>
              <a:t>FUTURE SCOPE  (not built)</a:t>
            </a:r>
            <a:endParaRPr b="0" lang="en-IN" sz="1000" spc="-1" strike="noStrike">
              <a:latin typeface="Arial"/>
            </a:endParaRPr>
          </a:p>
          <a:p>
            <a:pPr>
              <a:lnSpc>
                <a:spcPct val="95000"/>
              </a:lnSpc>
              <a:buNone/>
              <a:tabLst>
                <a:tab algn="l" pos="0"/>
              </a:tabLst>
            </a:pPr>
            <a:r>
              <a:rPr b="0" lang="en-US" sz="850" spc="-1" strike="noStrike">
                <a:solidFill>
                  <a:srgbClr val="1a1a1a"/>
                </a:solidFill>
                <a:latin typeface="Arial"/>
                <a:ea typeface="Arial"/>
              </a:rPr>
              <a:t>ST-GNN as the v2 model · near-real-time streaming ingestion · integration with real CFCFRMS / NCRP workflows subject to access and governance · online learning with drift monitoring · real SMS / email gateways · persisted alerts with audit trail · production authentication</a:t>
            </a:r>
            <a:endParaRPr b="0" lang="en-IN" sz="8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2" name="Image 0" descr="tpl/sih_logo.png"/>
          <p:cNvPicPr/>
          <p:nvPr/>
        </p:nvPicPr>
        <p:blipFill>
          <a:blip r:embed="rId1"/>
          <a:stretch/>
        </p:blipFill>
        <p:spPr>
          <a:xfrm>
            <a:off x="10113120" y="118800"/>
            <a:ext cx="1691280" cy="802440"/>
          </a:xfrm>
          <a:prstGeom prst="rect">
            <a:avLst/>
          </a:prstGeom>
          <a:ln w="0">
            <a:noFill/>
          </a:ln>
        </p:spPr>
      </p:pic>
      <p:sp>
        <p:nvSpPr>
          <p:cNvPr id="133" name="Shape 0"/>
          <p:cNvSpPr/>
          <p:nvPr/>
        </p:nvSpPr>
        <p:spPr>
          <a:xfrm>
            <a:off x="228600" y="7200000"/>
            <a:ext cx="12191400" cy="420120"/>
          </a:xfrm>
          <a:prstGeom prst="rect">
            <a:avLst/>
          </a:prstGeom>
          <a:solidFill>
            <a:srgbClr val="0070c0"/>
          </a:solidFill>
          <a:ln w="0">
            <a:noFill/>
          </a:ln>
        </p:spPr>
        <p:style>
          <a:lnRef idx="0"/>
          <a:fillRef idx="0"/>
          <a:effectRef idx="0"/>
          <a:fontRef idx="minor"/>
        </p:style>
      </p:sp>
      <p:sp>
        <p:nvSpPr>
          <p:cNvPr id="134" name="Text 1"/>
          <p:cNvSpPr/>
          <p:nvPr/>
        </p:nvSpPr>
        <p:spPr>
          <a:xfrm>
            <a:off x="3840480" y="6455520"/>
            <a:ext cx="448020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00" spc="-1" strike="noStrike">
                <a:solidFill>
                  <a:srgbClr val="ffffff"/>
                </a:solidFill>
                <a:latin typeface="Arial"/>
                <a:ea typeface="Arial"/>
              </a:rPr>
              <a:t>@SIH Idea submission- Template</a:t>
            </a:r>
            <a:endParaRPr b="0" lang="en-IN" sz="900" spc="-1" strike="noStrike">
              <a:latin typeface="Arial"/>
            </a:endParaRPr>
          </a:p>
        </p:txBody>
      </p:sp>
      <p:sp>
        <p:nvSpPr>
          <p:cNvPr id="135" name="Text 2"/>
          <p:cNvSpPr/>
          <p:nvPr/>
        </p:nvSpPr>
        <p:spPr>
          <a:xfrm>
            <a:off x="11247120" y="6455520"/>
            <a:ext cx="5482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Arial"/>
                <a:ea typeface="Arial"/>
              </a:rPr>
              <a:t>4</a:t>
            </a:r>
            <a:endParaRPr b="0" lang="en-IN" sz="900" spc="-1" strike="noStrike">
              <a:latin typeface="Arial"/>
            </a:endParaRPr>
          </a:p>
        </p:txBody>
      </p:sp>
      <p:sp>
        <p:nvSpPr>
          <p:cNvPr id="136" name="Shape 3"/>
          <p:cNvSpPr/>
          <p:nvPr/>
        </p:nvSpPr>
        <p:spPr>
          <a:xfrm>
            <a:off x="365760" y="118800"/>
            <a:ext cx="1261440" cy="639720"/>
          </a:xfrm>
          <a:prstGeom prst="ellipse">
            <a:avLst/>
          </a:prstGeom>
          <a:solidFill>
            <a:srgbClr val="ffffff"/>
          </a:solidFill>
          <a:ln w="15875">
            <a:solidFill>
              <a:srgbClr val="7030a0"/>
            </a:solidFill>
            <a:round/>
          </a:ln>
        </p:spPr>
        <p:style>
          <a:lnRef idx="0"/>
          <a:fillRef idx="0"/>
          <a:effectRef idx="0"/>
          <a:fontRef idx="minor"/>
        </p:style>
      </p:sp>
      <p:sp>
        <p:nvSpPr>
          <p:cNvPr id="137" name="Text 4"/>
          <p:cNvSpPr/>
          <p:nvPr/>
        </p:nvSpPr>
        <p:spPr>
          <a:xfrm>
            <a:off x="411480" y="137160"/>
            <a:ext cx="117000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1f497d"/>
                </a:solidFill>
                <a:latin typeface="Arial"/>
                <a:ea typeface="Arial"/>
              </a:rPr>
              <a:t>The PixelRex Crew</a:t>
            </a:r>
            <a:endParaRPr b="0" lang="en-IN" sz="800" spc="-1" strike="noStrike">
              <a:latin typeface="Arial"/>
            </a:endParaRPr>
          </a:p>
        </p:txBody>
      </p:sp>
      <p:sp>
        <p:nvSpPr>
          <p:cNvPr id="138" name="Text 5"/>
          <p:cNvSpPr/>
          <p:nvPr/>
        </p:nvSpPr>
        <p:spPr>
          <a:xfrm>
            <a:off x="1783080" y="201240"/>
            <a:ext cx="822924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3300" spc="-1" strike="noStrike">
                <a:solidFill>
                  <a:srgbClr val="1a1a1a"/>
                </a:solidFill>
                <a:latin typeface="Times New Roman"/>
                <a:ea typeface="Times New Roman"/>
              </a:rPr>
              <a:t>FEASIBILITY AND VIABILITY</a:t>
            </a:r>
            <a:endParaRPr b="0" lang="en-IN" sz="3300" spc="-1" strike="noStrike">
              <a:latin typeface="Arial"/>
            </a:endParaRPr>
          </a:p>
        </p:txBody>
      </p:sp>
      <p:sp>
        <p:nvSpPr>
          <p:cNvPr id="139" name="Text 6"/>
          <p:cNvSpPr/>
          <p:nvPr/>
        </p:nvSpPr>
        <p:spPr>
          <a:xfrm>
            <a:off x="411480" y="896040"/>
            <a:ext cx="32457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Analysis of the feasibility of the idea</a:t>
            </a:r>
            <a:endParaRPr b="0" lang="en-IN" sz="1300" spc="-1" strike="noStrike">
              <a:latin typeface="Arial"/>
            </a:endParaRPr>
          </a:p>
        </p:txBody>
      </p:sp>
      <p:sp>
        <p:nvSpPr>
          <p:cNvPr id="140" name="Shape 7"/>
          <p:cNvSpPr/>
          <p:nvPr/>
        </p:nvSpPr>
        <p:spPr>
          <a:xfrm>
            <a:off x="411480" y="1170360"/>
            <a:ext cx="3245760" cy="529920"/>
          </a:xfrm>
          <a:prstGeom prst="roundRect">
            <a:avLst>
              <a:gd name="adj" fmla="val 8621"/>
            </a:avLst>
          </a:prstGeom>
          <a:solidFill>
            <a:srgbClr val="eff4fa"/>
          </a:solidFill>
          <a:ln w="12700">
            <a:solidFill>
              <a:srgbClr val="ffffff"/>
            </a:solidFill>
            <a:round/>
          </a:ln>
        </p:spPr>
        <p:style>
          <a:lnRef idx="0"/>
          <a:fillRef idx="0"/>
          <a:effectRef idx="0"/>
          <a:fontRef idx="minor"/>
        </p:style>
      </p:sp>
      <p:sp>
        <p:nvSpPr>
          <p:cNvPr id="141" name="Text 8"/>
          <p:cNvSpPr/>
          <p:nvPr/>
        </p:nvSpPr>
        <p:spPr>
          <a:xfrm>
            <a:off x="484560" y="1170360"/>
            <a:ext cx="877320" cy="5299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600" spc="-1" strike="noStrike">
                <a:solidFill>
                  <a:srgbClr val="4f6228"/>
                </a:solidFill>
                <a:latin typeface="Times New Roman"/>
                <a:ea typeface="Times New Roman"/>
              </a:rPr>
              <a:t>Built</a:t>
            </a:r>
            <a:endParaRPr b="0" lang="en-IN" sz="1600" spc="-1" strike="noStrike">
              <a:latin typeface="Arial"/>
            </a:endParaRPr>
          </a:p>
        </p:txBody>
      </p:sp>
      <p:sp>
        <p:nvSpPr>
          <p:cNvPr id="142" name="Text 9"/>
          <p:cNvSpPr/>
          <p:nvPr/>
        </p:nvSpPr>
        <p:spPr>
          <a:xfrm>
            <a:off x="1398960" y="1216080"/>
            <a:ext cx="2148480" cy="438480"/>
          </a:xfrm>
          <a:prstGeom prst="rect">
            <a:avLst/>
          </a:prstGeom>
          <a:noFill/>
          <a:ln w="0">
            <a:noFill/>
          </a:ln>
        </p:spPr>
        <p:style>
          <a:lnRef idx="0"/>
          <a:fillRef idx="0"/>
          <a:effectRef idx="0"/>
          <a:fontRef idx="minor"/>
        </p:style>
        <p:txBody>
          <a:bodyPr lIns="0" rIns="0" tIns="0" bIns="0" anchor="ctr">
            <a:noAutofit/>
          </a:bodyPr>
          <a:p>
            <a:pPr>
              <a:lnSpc>
                <a:spcPct val="92000"/>
              </a:lnSpc>
              <a:buNone/>
              <a:tabLst>
                <a:tab algn="l" pos="0"/>
              </a:tabLst>
            </a:pPr>
            <a:r>
              <a:rPr b="0" lang="en-US" sz="850" spc="-1" strike="noStrike">
                <a:solidFill>
                  <a:srgbClr val="1a1a1a"/>
                </a:solidFill>
                <a:latin typeface="Arial"/>
                <a:ea typeface="Arial"/>
              </a:rPr>
              <a:t>The whole system already works end to end — data, prediction, map and alerts.</a:t>
            </a:r>
            <a:endParaRPr b="0" lang="en-IN" sz="850" spc="-1" strike="noStrike">
              <a:latin typeface="Arial"/>
            </a:endParaRPr>
          </a:p>
        </p:txBody>
      </p:sp>
      <p:sp>
        <p:nvSpPr>
          <p:cNvPr id="143" name="Shape 10"/>
          <p:cNvSpPr/>
          <p:nvPr/>
        </p:nvSpPr>
        <p:spPr>
          <a:xfrm>
            <a:off x="411480" y="1783080"/>
            <a:ext cx="3245760" cy="529920"/>
          </a:xfrm>
          <a:prstGeom prst="roundRect">
            <a:avLst>
              <a:gd name="adj" fmla="val 8621"/>
            </a:avLst>
          </a:prstGeom>
          <a:solidFill>
            <a:srgbClr val="eff4fa"/>
          </a:solidFill>
          <a:ln w="12700">
            <a:solidFill>
              <a:srgbClr val="ffffff"/>
            </a:solidFill>
            <a:round/>
          </a:ln>
        </p:spPr>
        <p:style>
          <a:lnRef idx="0"/>
          <a:fillRef idx="0"/>
          <a:effectRef idx="0"/>
          <a:fontRef idx="minor"/>
        </p:style>
      </p:sp>
      <p:sp>
        <p:nvSpPr>
          <p:cNvPr id="144" name="Text 11"/>
          <p:cNvSpPr/>
          <p:nvPr/>
        </p:nvSpPr>
        <p:spPr>
          <a:xfrm>
            <a:off x="484560" y="1783080"/>
            <a:ext cx="877320" cy="5299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600" spc="-1" strike="noStrike">
                <a:solidFill>
                  <a:srgbClr val="1f497d"/>
                </a:solidFill>
                <a:latin typeface="Times New Roman"/>
                <a:ea typeface="Times New Roman"/>
              </a:rPr>
              <a:t>724</a:t>
            </a:r>
            <a:endParaRPr b="0" lang="en-IN" sz="1600" spc="-1" strike="noStrike">
              <a:latin typeface="Arial"/>
            </a:endParaRPr>
          </a:p>
        </p:txBody>
      </p:sp>
      <p:sp>
        <p:nvSpPr>
          <p:cNvPr id="145" name="Text 12"/>
          <p:cNvSpPr/>
          <p:nvPr/>
        </p:nvSpPr>
        <p:spPr>
          <a:xfrm>
            <a:off x="1398960" y="1828800"/>
            <a:ext cx="2148480" cy="438480"/>
          </a:xfrm>
          <a:prstGeom prst="rect">
            <a:avLst/>
          </a:prstGeom>
          <a:noFill/>
          <a:ln w="0">
            <a:noFill/>
          </a:ln>
        </p:spPr>
        <p:style>
          <a:lnRef idx="0"/>
          <a:fillRef idx="0"/>
          <a:effectRef idx="0"/>
          <a:fontRef idx="minor"/>
        </p:style>
        <p:txBody>
          <a:bodyPr lIns="0" rIns="0" tIns="0" bIns="0" anchor="ctr">
            <a:noAutofit/>
          </a:bodyPr>
          <a:p>
            <a:pPr>
              <a:lnSpc>
                <a:spcPct val="92000"/>
              </a:lnSpc>
              <a:buNone/>
              <a:tabLst>
                <a:tab algn="l" pos="0"/>
              </a:tabLst>
            </a:pPr>
            <a:r>
              <a:rPr b="0" lang="en-US" sz="850" spc="-1" strike="noStrike">
                <a:solidFill>
                  <a:srgbClr val="1a1a1a"/>
                </a:solidFill>
                <a:latin typeface="Arial"/>
                <a:ea typeface="Arial"/>
              </a:rPr>
              <a:t>Every district in India is covered. Nothing was left out to make it work.</a:t>
            </a:r>
            <a:endParaRPr b="0" lang="en-IN" sz="850" spc="-1" strike="noStrike">
              <a:latin typeface="Arial"/>
            </a:endParaRPr>
          </a:p>
        </p:txBody>
      </p:sp>
      <p:sp>
        <p:nvSpPr>
          <p:cNvPr id="146" name="Shape 13"/>
          <p:cNvSpPr/>
          <p:nvPr/>
        </p:nvSpPr>
        <p:spPr>
          <a:xfrm>
            <a:off x="411480" y="2395800"/>
            <a:ext cx="3245760" cy="529920"/>
          </a:xfrm>
          <a:prstGeom prst="roundRect">
            <a:avLst>
              <a:gd name="adj" fmla="val 8621"/>
            </a:avLst>
          </a:prstGeom>
          <a:solidFill>
            <a:srgbClr val="eff4fa"/>
          </a:solidFill>
          <a:ln w="12700">
            <a:solidFill>
              <a:srgbClr val="ffffff"/>
            </a:solidFill>
            <a:round/>
          </a:ln>
        </p:spPr>
        <p:style>
          <a:lnRef idx="0"/>
          <a:fillRef idx="0"/>
          <a:effectRef idx="0"/>
          <a:fontRef idx="minor"/>
        </p:style>
      </p:sp>
      <p:sp>
        <p:nvSpPr>
          <p:cNvPr id="147" name="Text 14"/>
          <p:cNvSpPr/>
          <p:nvPr/>
        </p:nvSpPr>
        <p:spPr>
          <a:xfrm>
            <a:off x="484560" y="2395800"/>
            <a:ext cx="877320" cy="5299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600" spc="-1" strike="noStrike">
                <a:solidFill>
                  <a:srgbClr val="4f81bd"/>
                </a:solidFill>
                <a:latin typeface="Times New Roman"/>
                <a:ea typeface="Times New Roman"/>
              </a:rPr>
              <a:t>1 laptop</a:t>
            </a:r>
            <a:endParaRPr b="0" lang="en-IN" sz="1600" spc="-1" strike="noStrike">
              <a:latin typeface="Arial"/>
            </a:endParaRPr>
          </a:p>
        </p:txBody>
      </p:sp>
      <p:sp>
        <p:nvSpPr>
          <p:cNvPr id="148" name="Text 15"/>
          <p:cNvSpPr/>
          <p:nvPr/>
        </p:nvSpPr>
        <p:spPr>
          <a:xfrm>
            <a:off x="1398960" y="2441520"/>
            <a:ext cx="2148480" cy="438480"/>
          </a:xfrm>
          <a:prstGeom prst="rect">
            <a:avLst/>
          </a:prstGeom>
          <a:noFill/>
          <a:ln w="0">
            <a:noFill/>
          </a:ln>
        </p:spPr>
        <p:style>
          <a:lnRef idx="0"/>
          <a:fillRef idx="0"/>
          <a:effectRef idx="0"/>
          <a:fontRef idx="minor"/>
        </p:style>
        <p:txBody>
          <a:bodyPr lIns="0" rIns="0" tIns="0" bIns="0" anchor="ctr">
            <a:noAutofit/>
          </a:bodyPr>
          <a:p>
            <a:pPr>
              <a:lnSpc>
                <a:spcPct val="92000"/>
              </a:lnSpc>
              <a:buNone/>
              <a:tabLst>
                <a:tab algn="l" pos="0"/>
              </a:tabLst>
            </a:pPr>
            <a:r>
              <a:rPr b="0" lang="en-US" sz="850" spc="-1" strike="noStrike">
                <a:solidFill>
                  <a:srgbClr val="1a1a1a"/>
                </a:solidFill>
                <a:latin typeface="Arial"/>
                <a:ea typeface="Arial"/>
              </a:rPr>
              <a:t>Runs offline on an ordinary laptop. No cloud, no internet, no special hardware.</a:t>
            </a:r>
            <a:endParaRPr b="0" lang="en-IN" sz="850" spc="-1" strike="noStrike">
              <a:latin typeface="Arial"/>
            </a:endParaRPr>
          </a:p>
        </p:txBody>
      </p:sp>
      <p:sp>
        <p:nvSpPr>
          <p:cNvPr id="149" name="Shape 16"/>
          <p:cNvSpPr/>
          <p:nvPr/>
        </p:nvSpPr>
        <p:spPr>
          <a:xfrm>
            <a:off x="411480" y="3008520"/>
            <a:ext cx="3245760" cy="529920"/>
          </a:xfrm>
          <a:prstGeom prst="roundRect">
            <a:avLst>
              <a:gd name="adj" fmla="val 8621"/>
            </a:avLst>
          </a:prstGeom>
          <a:solidFill>
            <a:srgbClr val="eff4fa"/>
          </a:solidFill>
          <a:ln w="12700">
            <a:solidFill>
              <a:srgbClr val="ffffff"/>
            </a:solidFill>
            <a:round/>
          </a:ln>
        </p:spPr>
        <p:style>
          <a:lnRef idx="0"/>
          <a:fillRef idx="0"/>
          <a:effectRef idx="0"/>
          <a:fontRef idx="minor"/>
        </p:style>
      </p:sp>
      <p:sp>
        <p:nvSpPr>
          <p:cNvPr id="150" name="Text 17"/>
          <p:cNvSpPr/>
          <p:nvPr/>
        </p:nvSpPr>
        <p:spPr>
          <a:xfrm>
            <a:off x="484560" y="3008520"/>
            <a:ext cx="877320" cy="5299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600" spc="-1" strike="noStrike">
                <a:solidFill>
                  <a:srgbClr val="e36c0a"/>
                </a:solidFill>
                <a:latin typeface="Times New Roman"/>
                <a:ea typeface="Times New Roman"/>
              </a:rPr>
              <a:t>~75 s</a:t>
            </a:r>
            <a:endParaRPr b="0" lang="en-IN" sz="1600" spc="-1" strike="noStrike">
              <a:latin typeface="Arial"/>
            </a:endParaRPr>
          </a:p>
        </p:txBody>
      </p:sp>
      <p:sp>
        <p:nvSpPr>
          <p:cNvPr id="151" name="Text 18"/>
          <p:cNvSpPr/>
          <p:nvPr/>
        </p:nvSpPr>
        <p:spPr>
          <a:xfrm>
            <a:off x="1398960" y="3054240"/>
            <a:ext cx="2148480" cy="438480"/>
          </a:xfrm>
          <a:prstGeom prst="rect">
            <a:avLst/>
          </a:prstGeom>
          <a:noFill/>
          <a:ln w="0">
            <a:noFill/>
          </a:ln>
        </p:spPr>
        <p:style>
          <a:lnRef idx="0"/>
          <a:fillRef idx="0"/>
          <a:effectRef idx="0"/>
          <a:fontRef idx="minor"/>
        </p:style>
        <p:txBody>
          <a:bodyPr lIns="0" rIns="0" tIns="0" bIns="0" anchor="ctr">
            <a:noAutofit/>
          </a:bodyPr>
          <a:p>
            <a:pPr>
              <a:lnSpc>
                <a:spcPct val="92000"/>
              </a:lnSpc>
              <a:buNone/>
              <a:tabLst>
                <a:tab algn="l" pos="0"/>
              </a:tabLst>
            </a:pPr>
            <a:r>
              <a:rPr b="0" lang="en-US" sz="850" spc="-1" strike="noStrike">
                <a:solidFill>
                  <a:srgbClr val="1a1a1a"/>
                </a:solidFill>
                <a:latin typeface="Arial"/>
                <a:ea typeface="Arial"/>
              </a:rPr>
              <a:t>Anyone can take our code and reproduce every number in this deck in about a minute.</a:t>
            </a:r>
            <a:endParaRPr b="0" lang="en-IN" sz="850" spc="-1" strike="noStrike">
              <a:latin typeface="Arial"/>
            </a:endParaRPr>
          </a:p>
        </p:txBody>
      </p:sp>
      <p:sp>
        <p:nvSpPr>
          <p:cNvPr id="152" name="Text 19"/>
          <p:cNvSpPr/>
          <p:nvPr/>
        </p:nvSpPr>
        <p:spPr>
          <a:xfrm>
            <a:off x="429840" y="3666600"/>
            <a:ext cx="3209040" cy="54828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900" spc="-1" strike="noStrike">
                <a:solidFill>
                  <a:srgbClr val="1f497d"/>
                </a:solidFill>
                <a:latin typeface="Arial"/>
                <a:ea typeface="Arial"/>
              </a:rPr>
              <a:t>Our test data is synthetic, but it is shaped like real complaint and transaction records — real feeds can be plugged in later without redesigning the system.</a:t>
            </a:r>
            <a:endParaRPr b="0" lang="en-IN" sz="900" spc="-1" strike="noStrike">
              <a:latin typeface="Arial"/>
            </a:endParaRPr>
          </a:p>
        </p:txBody>
      </p:sp>
      <p:sp>
        <p:nvSpPr>
          <p:cNvPr id="153" name="Text 20"/>
          <p:cNvSpPr/>
          <p:nvPr/>
        </p:nvSpPr>
        <p:spPr>
          <a:xfrm>
            <a:off x="3913560" y="896040"/>
            <a:ext cx="786348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Is it usable on the ground?  The monitoring load</a:t>
            </a:r>
            <a:endParaRPr b="0" lang="en-IN" sz="1300" spc="-1" strike="noStrike">
              <a:latin typeface="Arial"/>
            </a:endParaRPr>
          </a:p>
        </p:txBody>
      </p:sp>
      <p:graphicFrame>
        <p:nvGraphicFramePr>
          <p:cNvPr id="154" name="Chart 0"/>
          <p:cNvGraphicFramePr/>
          <p:nvPr/>
        </p:nvGraphicFramePr>
        <p:xfrm>
          <a:off x="3913560" y="1188720"/>
          <a:ext cx="7863480" cy="1974600"/>
        </p:xfrm>
        <a:graphic>
          <a:graphicData uri="http://schemas.openxmlformats.org/drawingml/2006/chart">
            <c:chart xmlns:c="http://schemas.openxmlformats.org/drawingml/2006/chart" xmlns:r="http://schemas.openxmlformats.org/officeDocument/2006/relationships" r:id="rId2"/>
          </a:graphicData>
        </a:graphic>
      </p:graphicFrame>
      <p:sp>
        <p:nvSpPr>
          <p:cNvPr id="155" name="Text 21"/>
          <p:cNvSpPr/>
          <p:nvPr/>
        </p:nvSpPr>
        <p:spPr>
          <a:xfrm>
            <a:off x="3913560" y="3237120"/>
            <a:ext cx="7863480" cy="78588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0" lang="en-US" sz="950" spc="-1" strike="noStrike">
                <a:solidFill>
                  <a:srgbClr val="1a1a1a"/>
                </a:solidFill>
                <a:latin typeface="Arial"/>
                <a:ea typeface="Arial"/>
              </a:rPr>
              <a:t>Every 6 hours there are 724 districts to think about, and no force can watch them all. </a:t>
            </a:r>
            <a:r>
              <a:rPr b="1" lang="en-US" sz="950" spc="-1" strike="noStrike">
                <a:solidFill>
                  <a:srgbClr val="1f497d"/>
                </a:solidFill>
                <a:latin typeface="Arial"/>
                <a:ea typeface="Arial"/>
              </a:rPr>
              <a:t>FraudLens replaces that with a short ranked list — about 3% of the country — that a control room can actually act on.</a:t>
            </a:r>
            <a:endParaRPr b="0" lang="en-IN" sz="950" spc="-1" strike="noStrike">
              <a:latin typeface="Arial"/>
            </a:endParaRPr>
          </a:p>
          <a:p>
            <a:pPr>
              <a:lnSpc>
                <a:spcPct val="95000"/>
              </a:lnSpc>
              <a:buNone/>
              <a:tabLst>
                <a:tab algn="l" pos="0"/>
              </a:tabLst>
            </a:pPr>
            <a:r>
              <a:rPr b="0" lang="en-US" sz="950" spc="-1" strike="noStrike">
                <a:solidFill>
                  <a:srgbClr val="1a1a1a"/>
                </a:solidFill>
                <a:latin typeface="Arial"/>
                <a:ea typeface="Arial"/>
              </a:rPr>
              <a:t>This is why the idea is deployable without new manpower: it changes what officers look at, not how many of them there are. A shorter list means a sharper deployment, a longer one misses less — the list length stays a decision for the force, not for us.</a:t>
            </a:r>
            <a:endParaRPr b="0" lang="en-IN" sz="950" spc="-1" strike="noStrike">
              <a:latin typeface="Arial"/>
            </a:endParaRPr>
          </a:p>
        </p:txBody>
      </p:sp>
      <p:sp>
        <p:nvSpPr>
          <p:cNvPr id="156" name="Text 22"/>
          <p:cNvSpPr/>
          <p:nvPr/>
        </p:nvSpPr>
        <p:spPr>
          <a:xfrm>
            <a:off x="411480" y="4133160"/>
            <a:ext cx="11365560" cy="237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Potential challenges and risks</a:t>
            </a:r>
            <a:r>
              <a:rPr b="0" lang="en-US" sz="1300" spc="-1" strike="noStrike">
                <a:solidFill>
                  <a:srgbClr val="bfbfbf"/>
                </a:solidFill>
                <a:latin typeface="Times New Roman"/>
                <a:ea typeface="Times New Roman"/>
              </a:rPr>
              <a:t>     |     </a:t>
            </a:r>
            <a:r>
              <a:rPr b="1" lang="en-US" sz="1300" spc="-1" strike="noStrike">
                <a:solidFill>
                  <a:srgbClr val="1f497d"/>
                </a:solidFill>
                <a:latin typeface="Times New Roman"/>
                <a:ea typeface="Times New Roman"/>
              </a:rPr>
              <a:t>Strategies for overcoming these challenges</a:t>
            </a:r>
            <a:endParaRPr b="0" lang="en-IN" sz="1300" spc="-1" strike="noStrike">
              <a:latin typeface="Arial"/>
            </a:endParaRPr>
          </a:p>
        </p:txBody>
      </p:sp>
      <p:sp>
        <p:nvSpPr>
          <p:cNvPr id="157" name="Shape 23"/>
          <p:cNvSpPr/>
          <p:nvPr/>
        </p:nvSpPr>
        <p:spPr>
          <a:xfrm>
            <a:off x="411480" y="4425840"/>
            <a:ext cx="3638880" cy="859320"/>
          </a:xfrm>
          <a:prstGeom prst="roundRect">
            <a:avLst>
              <a:gd name="adj" fmla="val 5319"/>
            </a:avLst>
          </a:prstGeom>
          <a:solidFill>
            <a:srgbClr val="f7e4e3"/>
          </a:solidFill>
          <a:ln w="12700">
            <a:solidFill>
              <a:srgbClr val="ffffff"/>
            </a:solidFill>
            <a:round/>
          </a:ln>
        </p:spPr>
        <p:style>
          <a:lnRef idx="0"/>
          <a:fillRef idx="0"/>
          <a:effectRef idx="0"/>
          <a:fontRef idx="minor"/>
        </p:style>
      </p:sp>
      <p:sp>
        <p:nvSpPr>
          <p:cNvPr id="158" name="Text 24"/>
          <p:cNvSpPr/>
          <p:nvPr/>
        </p:nvSpPr>
        <p:spPr>
          <a:xfrm>
            <a:off x="521280" y="4498920"/>
            <a:ext cx="3419640" cy="712800"/>
          </a:xfrm>
          <a:prstGeom prst="rect">
            <a:avLst/>
          </a:prstGeom>
          <a:noFill/>
          <a:ln w="0">
            <a:noFill/>
          </a:ln>
        </p:spPr>
        <p:style>
          <a:lnRef idx="0"/>
          <a:fillRef idx="0"/>
          <a:effectRef idx="0"/>
          <a:fontRef idx="minor"/>
        </p:style>
        <p:txBody>
          <a:bodyPr lIns="0" rIns="0" tIns="0" bIns="0" anchor="t">
            <a:noAutofit/>
          </a:bodyPr>
          <a:p>
            <a:pPr>
              <a:lnSpc>
                <a:spcPct val="92000"/>
              </a:lnSpc>
              <a:spcAft>
                <a:spcPts val="300"/>
              </a:spcAft>
              <a:buNone/>
              <a:tabLst>
                <a:tab algn="l" pos="0"/>
              </a:tabLst>
            </a:pPr>
            <a:r>
              <a:rPr b="1" lang="en-US" sz="880" spc="-1" strike="noStrike">
                <a:solidFill>
                  <a:srgbClr val="c0504d"/>
                </a:solidFill>
                <a:latin typeface="Arial"/>
                <a:ea typeface="Arial"/>
              </a:rPr>
              <a:t>We do not have real complaint or bank data</a:t>
            </a:r>
            <a:endParaRPr b="0" lang="en-IN" sz="880" spc="-1" strike="noStrike">
              <a:latin typeface="Arial"/>
            </a:endParaRPr>
          </a:p>
          <a:p>
            <a:pPr>
              <a:lnSpc>
                <a:spcPct val="92000"/>
              </a:lnSpc>
              <a:buNone/>
              <a:tabLst>
                <a:tab algn="l" pos="0"/>
              </a:tabLst>
            </a:pPr>
            <a:r>
              <a:rPr b="0" lang="en-US" sz="830" spc="-1" strike="noStrike">
                <a:solidFill>
                  <a:srgbClr val="1a1a1a"/>
                </a:solidFill>
                <a:latin typeface="Arial"/>
                <a:ea typeface="Arial"/>
              </a:rPr>
              <a:t>Real trails sit inside I4C and the banks. We built a simulator that follows the same rules, and kept our data in the same shape as the real records.</a:t>
            </a:r>
            <a:endParaRPr b="0" lang="en-IN" sz="830" spc="-1" strike="noStrike">
              <a:latin typeface="Arial"/>
            </a:endParaRPr>
          </a:p>
        </p:txBody>
      </p:sp>
      <p:sp>
        <p:nvSpPr>
          <p:cNvPr id="159" name="Shape 25"/>
          <p:cNvSpPr/>
          <p:nvPr/>
        </p:nvSpPr>
        <p:spPr>
          <a:xfrm>
            <a:off x="4275000" y="4425840"/>
            <a:ext cx="3638880" cy="859320"/>
          </a:xfrm>
          <a:prstGeom prst="roundRect">
            <a:avLst>
              <a:gd name="adj" fmla="val 5319"/>
            </a:avLst>
          </a:prstGeom>
          <a:solidFill>
            <a:srgbClr val="f7e4e3"/>
          </a:solidFill>
          <a:ln w="12700">
            <a:solidFill>
              <a:srgbClr val="ffffff"/>
            </a:solidFill>
            <a:round/>
          </a:ln>
        </p:spPr>
        <p:style>
          <a:lnRef idx="0"/>
          <a:fillRef idx="0"/>
          <a:effectRef idx="0"/>
          <a:fontRef idx="minor"/>
        </p:style>
      </p:sp>
      <p:sp>
        <p:nvSpPr>
          <p:cNvPr id="160" name="Text 26"/>
          <p:cNvSpPr/>
          <p:nvPr/>
        </p:nvSpPr>
        <p:spPr>
          <a:xfrm>
            <a:off x="4384440" y="4498920"/>
            <a:ext cx="3419640" cy="712800"/>
          </a:xfrm>
          <a:prstGeom prst="rect">
            <a:avLst/>
          </a:prstGeom>
          <a:noFill/>
          <a:ln w="0">
            <a:noFill/>
          </a:ln>
        </p:spPr>
        <p:style>
          <a:lnRef idx="0"/>
          <a:fillRef idx="0"/>
          <a:effectRef idx="0"/>
          <a:fontRef idx="minor"/>
        </p:style>
        <p:txBody>
          <a:bodyPr lIns="0" rIns="0" tIns="0" bIns="0" anchor="t">
            <a:noAutofit/>
          </a:bodyPr>
          <a:p>
            <a:pPr>
              <a:lnSpc>
                <a:spcPct val="92000"/>
              </a:lnSpc>
              <a:spcAft>
                <a:spcPts val="300"/>
              </a:spcAft>
              <a:buNone/>
              <a:tabLst>
                <a:tab algn="l" pos="0"/>
              </a:tabLst>
            </a:pPr>
            <a:r>
              <a:rPr b="1" lang="en-US" sz="880" spc="-1" strike="noStrike">
                <a:solidFill>
                  <a:srgbClr val="c0504d"/>
                </a:solidFill>
                <a:latin typeface="Arial"/>
                <a:ea typeface="Arial"/>
              </a:rPr>
              <a:t>A model can look clever by accidentally peeking at the future</a:t>
            </a:r>
            <a:endParaRPr b="0" lang="en-IN" sz="880" spc="-1" strike="noStrike">
              <a:latin typeface="Arial"/>
            </a:endParaRPr>
          </a:p>
          <a:p>
            <a:pPr>
              <a:lnSpc>
                <a:spcPct val="92000"/>
              </a:lnSpc>
              <a:buNone/>
              <a:tabLst>
                <a:tab algn="l" pos="0"/>
              </a:tabLst>
            </a:pPr>
            <a:r>
              <a:rPr b="0" lang="en-US" sz="830" spc="-1" strike="noStrike">
                <a:solidFill>
                  <a:srgbClr val="1a1a1a"/>
                </a:solidFill>
                <a:latin typeface="Arial"/>
                <a:ea typeface="Arial"/>
              </a:rPr>
              <a:t>We train only on earlier months and test on later ones, and an automatic check runs every time to catch this mistake. It passed.</a:t>
            </a:r>
            <a:endParaRPr b="0" lang="en-IN" sz="830" spc="-1" strike="noStrike">
              <a:latin typeface="Arial"/>
            </a:endParaRPr>
          </a:p>
        </p:txBody>
      </p:sp>
      <p:sp>
        <p:nvSpPr>
          <p:cNvPr id="161" name="Shape 27"/>
          <p:cNvSpPr/>
          <p:nvPr/>
        </p:nvSpPr>
        <p:spPr>
          <a:xfrm>
            <a:off x="8138160" y="4425840"/>
            <a:ext cx="3638880" cy="859320"/>
          </a:xfrm>
          <a:prstGeom prst="roundRect">
            <a:avLst>
              <a:gd name="adj" fmla="val 5319"/>
            </a:avLst>
          </a:prstGeom>
          <a:solidFill>
            <a:srgbClr val="f7e4e3"/>
          </a:solidFill>
          <a:ln w="12700">
            <a:solidFill>
              <a:srgbClr val="ffffff"/>
            </a:solidFill>
            <a:round/>
          </a:ln>
        </p:spPr>
        <p:style>
          <a:lnRef idx="0"/>
          <a:fillRef idx="0"/>
          <a:effectRef idx="0"/>
          <a:fontRef idx="minor"/>
        </p:style>
      </p:sp>
      <p:sp>
        <p:nvSpPr>
          <p:cNvPr id="162" name="Text 28"/>
          <p:cNvSpPr/>
          <p:nvPr/>
        </p:nvSpPr>
        <p:spPr>
          <a:xfrm>
            <a:off x="8247960" y="4498920"/>
            <a:ext cx="3419640" cy="712800"/>
          </a:xfrm>
          <a:prstGeom prst="rect">
            <a:avLst/>
          </a:prstGeom>
          <a:noFill/>
          <a:ln w="0">
            <a:noFill/>
          </a:ln>
        </p:spPr>
        <p:style>
          <a:lnRef idx="0"/>
          <a:fillRef idx="0"/>
          <a:effectRef idx="0"/>
          <a:fontRef idx="minor"/>
        </p:style>
        <p:txBody>
          <a:bodyPr lIns="0" rIns="0" tIns="0" bIns="0" anchor="t">
            <a:noAutofit/>
          </a:bodyPr>
          <a:p>
            <a:pPr>
              <a:lnSpc>
                <a:spcPct val="92000"/>
              </a:lnSpc>
              <a:spcAft>
                <a:spcPts val="300"/>
              </a:spcAft>
              <a:buNone/>
              <a:tabLst>
                <a:tab algn="l" pos="0"/>
              </a:tabLst>
            </a:pPr>
            <a:r>
              <a:rPr b="1" lang="en-US" sz="880" spc="-1" strike="noStrike">
                <a:solidFill>
                  <a:srgbClr val="c0504d"/>
                </a:solidFill>
                <a:latin typeface="Arial"/>
                <a:ea typeface="Arial"/>
              </a:rPr>
              <a:t>Criminals change their routes</a:t>
            </a:r>
            <a:endParaRPr b="0" lang="en-IN" sz="880" spc="-1" strike="noStrike">
              <a:latin typeface="Arial"/>
            </a:endParaRPr>
          </a:p>
          <a:p>
            <a:pPr>
              <a:lnSpc>
                <a:spcPct val="92000"/>
              </a:lnSpc>
              <a:buNone/>
              <a:tabLst>
                <a:tab algn="l" pos="0"/>
              </a:tabLst>
            </a:pPr>
            <a:r>
              <a:rPr b="0" lang="en-US" sz="830" spc="-1" strike="noStrike">
                <a:solidFill>
                  <a:srgbClr val="1a1a1a"/>
                </a:solidFill>
                <a:latin typeface="Arial"/>
                <a:ea typeface="Arial"/>
              </a:rPr>
              <a:t>We watch the one step they cannot skip — moving money through accounts. The model relearns in seconds, so it can keep up with a new pattern.</a:t>
            </a:r>
            <a:endParaRPr b="0" lang="en-IN" sz="830" spc="-1" strike="noStrike">
              <a:latin typeface="Arial"/>
            </a:endParaRPr>
          </a:p>
        </p:txBody>
      </p:sp>
      <p:sp>
        <p:nvSpPr>
          <p:cNvPr id="163" name="Shape 29"/>
          <p:cNvSpPr/>
          <p:nvPr/>
        </p:nvSpPr>
        <p:spPr>
          <a:xfrm>
            <a:off x="411480" y="5385960"/>
            <a:ext cx="3638880" cy="859320"/>
          </a:xfrm>
          <a:prstGeom prst="roundRect">
            <a:avLst>
              <a:gd name="adj" fmla="val 5319"/>
            </a:avLst>
          </a:prstGeom>
          <a:solidFill>
            <a:srgbClr val="eaf1dd"/>
          </a:solidFill>
          <a:ln w="12700">
            <a:solidFill>
              <a:srgbClr val="ffffff"/>
            </a:solidFill>
            <a:round/>
          </a:ln>
        </p:spPr>
        <p:style>
          <a:lnRef idx="0"/>
          <a:fillRef idx="0"/>
          <a:effectRef idx="0"/>
          <a:fontRef idx="minor"/>
        </p:style>
      </p:sp>
      <p:sp>
        <p:nvSpPr>
          <p:cNvPr id="164" name="Text 30"/>
          <p:cNvSpPr/>
          <p:nvPr/>
        </p:nvSpPr>
        <p:spPr>
          <a:xfrm>
            <a:off x="521280" y="5459040"/>
            <a:ext cx="3419640" cy="712800"/>
          </a:xfrm>
          <a:prstGeom prst="rect">
            <a:avLst/>
          </a:prstGeom>
          <a:noFill/>
          <a:ln w="0">
            <a:noFill/>
          </a:ln>
        </p:spPr>
        <p:style>
          <a:lnRef idx="0"/>
          <a:fillRef idx="0"/>
          <a:effectRef idx="0"/>
          <a:fontRef idx="minor"/>
        </p:style>
        <p:txBody>
          <a:bodyPr lIns="0" rIns="0" tIns="0" bIns="0" anchor="t">
            <a:noAutofit/>
          </a:bodyPr>
          <a:p>
            <a:pPr>
              <a:lnSpc>
                <a:spcPct val="92000"/>
              </a:lnSpc>
              <a:spcAft>
                <a:spcPts val="300"/>
              </a:spcAft>
              <a:buNone/>
              <a:tabLst>
                <a:tab algn="l" pos="0"/>
              </a:tabLst>
            </a:pPr>
            <a:r>
              <a:rPr b="1" lang="en-US" sz="880" spc="-1" strike="noStrike">
                <a:solidFill>
                  <a:srgbClr val="4f6228"/>
                </a:solidFill>
                <a:latin typeface="Arial"/>
                <a:ea typeface="Arial"/>
              </a:rPr>
              <a:t>Too many false alarms would waste police time</a:t>
            </a:r>
            <a:endParaRPr b="0" lang="en-IN" sz="880" spc="-1" strike="noStrike">
              <a:latin typeface="Arial"/>
            </a:endParaRPr>
          </a:p>
          <a:p>
            <a:pPr>
              <a:lnSpc>
                <a:spcPct val="92000"/>
              </a:lnSpc>
              <a:buNone/>
              <a:tabLst>
                <a:tab algn="l" pos="0"/>
              </a:tabLst>
            </a:pPr>
            <a:r>
              <a:rPr b="0" lang="en-US" sz="830" spc="-1" strike="noStrike">
                <a:solidFill>
                  <a:srgbClr val="1a1a1a"/>
                </a:solidFill>
                <a:latin typeface="Arial"/>
                <a:ea typeface="Arial"/>
              </a:rPr>
              <a:t>Officers get a short ranked list and a written reason for every alert, so they can judge each one instead of chasing everything.</a:t>
            </a:r>
            <a:endParaRPr b="0" lang="en-IN" sz="830" spc="-1" strike="noStrike">
              <a:latin typeface="Arial"/>
            </a:endParaRPr>
          </a:p>
        </p:txBody>
      </p:sp>
      <p:sp>
        <p:nvSpPr>
          <p:cNvPr id="165" name="Shape 31"/>
          <p:cNvSpPr/>
          <p:nvPr/>
        </p:nvSpPr>
        <p:spPr>
          <a:xfrm>
            <a:off x="4275000" y="5385960"/>
            <a:ext cx="3638880" cy="859320"/>
          </a:xfrm>
          <a:prstGeom prst="roundRect">
            <a:avLst>
              <a:gd name="adj" fmla="val 5319"/>
            </a:avLst>
          </a:prstGeom>
          <a:solidFill>
            <a:srgbClr val="eaf1dd"/>
          </a:solidFill>
          <a:ln w="12700">
            <a:solidFill>
              <a:srgbClr val="ffffff"/>
            </a:solidFill>
            <a:round/>
          </a:ln>
        </p:spPr>
        <p:style>
          <a:lnRef idx="0"/>
          <a:fillRef idx="0"/>
          <a:effectRef idx="0"/>
          <a:fontRef idx="minor"/>
        </p:style>
      </p:sp>
      <p:sp>
        <p:nvSpPr>
          <p:cNvPr id="166" name="Text 32"/>
          <p:cNvSpPr/>
          <p:nvPr/>
        </p:nvSpPr>
        <p:spPr>
          <a:xfrm>
            <a:off x="4384440" y="5459040"/>
            <a:ext cx="3419640" cy="712800"/>
          </a:xfrm>
          <a:prstGeom prst="rect">
            <a:avLst/>
          </a:prstGeom>
          <a:noFill/>
          <a:ln w="0">
            <a:noFill/>
          </a:ln>
        </p:spPr>
        <p:style>
          <a:lnRef idx="0"/>
          <a:fillRef idx="0"/>
          <a:effectRef idx="0"/>
          <a:fontRef idx="minor"/>
        </p:style>
        <p:txBody>
          <a:bodyPr lIns="0" rIns="0" tIns="0" bIns="0" anchor="t">
            <a:noAutofit/>
          </a:bodyPr>
          <a:p>
            <a:pPr>
              <a:lnSpc>
                <a:spcPct val="92000"/>
              </a:lnSpc>
              <a:spcAft>
                <a:spcPts val="300"/>
              </a:spcAft>
              <a:buNone/>
              <a:tabLst>
                <a:tab algn="l" pos="0"/>
              </a:tabLst>
            </a:pPr>
            <a:r>
              <a:rPr b="1" lang="en-US" sz="880" spc="-1" strike="noStrike">
                <a:solidFill>
                  <a:srgbClr val="4f6228"/>
                </a:solidFill>
                <a:latin typeface="Arial"/>
                <a:ea typeface="Arial"/>
              </a:rPr>
              <a:t>Using real bank and police data needs permission</a:t>
            </a:r>
            <a:endParaRPr b="0" lang="en-IN" sz="880" spc="-1" strike="noStrike">
              <a:latin typeface="Arial"/>
            </a:endParaRPr>
          </a:p>
          <a:p>
            <a:pPr>
              <a:lnSpc>
                <a:spcPct val="92000"/>
              </a:lnSpc>
              <a:buNone/>
              <a:tabLst>
                <a:tab algn="l" pos="0"/>
              </a:tabLst>
            </a:pPr>
            <a:r>
              <a:rPr b="0" lang="en-US" sz="830" spc="-1" strike="noStrike">
                <a:solidFill>
                  <a:srgbClr val="1a1a1a"/>
                </a:solidFill>
                <a:latin typeface="Arial"/>
                <a:ea typeface="Arial"/>
              </a:rPr>
              <a:t>Access has to be granted officially. Our design already separates data by role, so each user only ever sees what they are allowed to.</a:t>
            </a:r>
            <a:endParaRPr b="0" lang="en-IN" sz="830" spc="-1" strike="noStrike">
              <a:latin typeface="Arial"/>
            </a:endParaRPr>
          </a:p>
        </p:txBody>
      </p:sp>
      <p:sp>
        <p:nvSpPr>
          <p:cNvPr id="167" name="Shape 33"/>
          <p:cNvSpPr/>
          <p:nvPr/>
        </p:nvSpPr>
        <p:spPr>
          <a:xfrm>
            <a:off x="8138160" y="5385960"/>
            <a:ext cx="3638880" cy="859320"/>
          </a:xfrm>
          <a:prstGeom prst="roundRect">
            <a:avLst>
              <a:gd name="adj" fmla="val 5319"/>
            </a:avLst>
          </a:prstGeom>
          <a:solidFill>
            <a:srgbClr val="eaf1dd"/>
          </a:solidFill>
          <a:ln w="12700">
            <a:solidFill>
              <a:srgbClr val="ffffff"/>
            </a:solidFill>
            <a:round/>
          </a:ln>
        </p:spPr>
        <p:style>
          <a:lnRef idx="0"/>
          <a:fillRef idx="0"/>
          <a:effectRef idx="0"/>
          <a:fontRef idx="minor"/>
        </p:style>
      </p:sp>
      <p:sp>
        <p:nvSpPr>
          <p:cNvPr id="168" name="Text 34"/>
          <p:cNvSpPr/>
          <p:nvPr/>
        </p:nvSpPr>
        <p:spPr>
          <a:xfrm>
            <a:off x="8247960" y="5459040"/>
            <a:ext cx="3419640" cy="712800"/>
          </a:xfrm>
          <a:prstGeom prst="rect">
            <a:avLst/>
          </a:prstGeom>
          <a:noFill/>
          <a:ln w="0">
            <a:noFill/>
          </a:ln>
        </p:spPr>
        <p:style>
          <a:lnRef idx="0"/>
          <a:fillRef idx="0"/>
          <a:effectRef idx="0"/>
          <a:fontRef idx="minor"/>
        </p:style>
        <p:txBody>
          <a:bodyPr lIns="0" rIns="0" tIns="0" bIns="0" anchor="t">
            <a:noAutofit/>
          </a:bodyPr>
          <a:p>
            <a:pPr>
              <a:lnSpc>
                <a:spcPct val="92000"/>
              </a:lnSpc>
              <a:spcAft>
                <a:spcPts val="300"/>
              </a:spcAft>
              <a:buNone/>
              <a:tabLst>
                <a:tab algn="l" pos="0"/>
              </a:tabLst>
            </a:pPr>
            <a:r>
              <a:rPr b="1" lang="en-US" sz="880" spc="-1" strike="noStrike">
                <a:solidFill>
                  <a:srgbClr val="4f6228"/>
                </a:solidFill>
                <a:latin typeface="Arial"/>
                <a:ea typeface="Arial"/>
              </a:rPr>
              <a:t>Not every fraud ends at an ATM</a:t>
            </a:r>
            <a:endParaRPr b="0" lang="en-IN" sz="880" spc="-1" strike="noStrike">
              <a:latin typeface="Arial"/>
            </a:endParaRPr>
          </a:p>
          <a:p>
            <a:pPr>
              <a:lnSpc>
                <a:spcPct val="92000"/>
              </a:lnSpc>
              <a:buNone/>
              <a:tabLst>
                <a:tab algn="l" pos="0"/>
              </a:tabLst>
            </a:pPr>
            <a:r>
              <a:rPr b="0" lang="en-US" sz="830" spc="-1" strike="noStrike">
                <a:solidFill>
                  <a:srgbClr val="1a1a1a"/>
                </a:solidFill>
                <a:latin typeface="Arial"/>
                <a:ea typeface="Arial"/>
              </a:rPr>
              <a:t>Cash is still the common exit today. The same approach can be pointed at other exit routes as criminals shift.</a:t>
            </a:r>
            <a:endParaRPr b="0" lang="en-IN" sz="83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9" name="Image 0" descr="tpl/sih_logo.png"/>
          <p:cNvPicPr/>
          <p:nvPr/>
        </p:nvPicPr>
        <p:blipFill>
          <a:blip r:embed="rId1"/>
          <a:stretch/>
        </p:blipFill>
        <p:spPr>
          <a:xfrm>
            <a:off x="10113120" y="118800"/>
            <a:ext cx="1691280" cy="802440"/>
          </a:xfrm>
          <a:prstGeom prst="rect">
            <a:avLst/>
          </a:prstGeom>
          <a:ln w="0">
            <a:noFill/>
          </a:ln>
        </p:spPr>
      </p:pic>
      <p:sp>
        <p:nvSpPr>
          <p:cNvPr id="170" name="Shape 0"/>
          <p:cNvSpPr/>
          <p:nvPr/>
        </p:nvSpPr>
        <p:spPr>
          <a:xfrm>
            <a:off x="48600" y="7319880"/>
            <a:ext cx="12191400" cy="420120"/>
          </a:xfrm>
          <a:prstGeom prst="rect">
            <a:avLst/>
          </a:prstGeom>
          <a:solidFill>
            <a:srgbClr val="0070c0"/>
          </a:solidFill>
          <a:ln w="0">
            <a:noFill/>
          </a:ln>
        </p:spPr>
        <p:style>
          <a:lnRef idx="0"/>
          <a:fillRef idx="0"/>
          <a:effectRef idx="0"/>
          <a:fontRef idx="minor"/>
        </p:style>
      </p:sp>
      <p:sp>
        <p:nvSpPr>
          <p:cNvPr id="171" name="Text 1"/>
          <p:cNvSpPr/>
          <p:nvPr/>
        </p:nvSpPr>
        <p:spPr>
          <a:xfrm>
            <a:off x="3840480" y="6455520"/>
            <a:ext cx="448020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00" spc="-1" strike="noStrike">
                <a:solidFill>
                  <a:srgbClr val="ffffff"/>
                </a:solidFill>
                <a:latin typeface="Arial"/>
                <a:ea typeface="Arial"/>
              </a:rPr>
              <a:t>@SIH Idea submission- Template</a:t>
            </a:r>
            <a:endParaRPr b="0" lang="en-IN" sz="900" spc="-1" strike="noStrike">
              <a:latin typeface="Arial"/>
            </a:endParaRPr>
          </a:p>
        </p:txBody>
      </p:sp>
      <p:sp>
        <p:nvSpPr>
          <p:cNvPr id="172" name="Text 2"/>
          <p:cNvSpPr/>
          <p:nvPr/>
        </p:nvSpPr>
        <p:spPr>
          <a:xfrm>
            <a:off x="11247120" y="6455520"/>
            <a:ext cx="5482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Arial"/>
                <a:ea typeface="Arial"/>
              </a:rPr>
              <a:t>5</a:t>
            </a:r>
            <a:endParaRPr b="0" lang="en-IN" sz="900" spc="-1" strike="noStrike">
              <a:latin typeface="Arial"/>
            </a:endParaRPr>
          </a:p>
        </p:txBody>
      </p:sp>
      <p:sp>
        <p:nvSpPr>
          <p:cNvPr id="173" name="Shape 3"/>
          <p:cNvSpPr/>
          <p:nvPr/>
        </p:nvSpPr>
        <p:spPr>
          <a:xfrm>
            <a:off x="365760" y="118800"/>
            <a:ext cx="1261440" cy="639720"/>
          </a:xfrm>
          <a:prstGeom prst="ellipse">
            <a:avLst/>
          </a:prstGeom>
          <a:solidFill>
            <a:srgbClr val="ffffff"/>
          </a:solidFill>
          <a:ln w="15875">
            <a:solidFill>
              <a:srgbClr val="7030a0"/>
            </a:solidFill>
            <a:round/>
          </a:ln>
        </p:spPr>
        <p:style>
          <a:lnRef idx="0"/>
          <a:fillRef idx="0"/>
          <a:effectRef idx="0"/>
          <a:fontRef idx="minor"/>
        </p:style>
      </p:sp>
      <p:sp>
        <p:nvSpPr>
          <p:cNvPr id="174" name="Text 4"/>
          <p:cNvSpPr/>
          <p:nvPr/>
        </p:nvSpPr>
        <p:spPr>
          <a:xfrm>
            <a:off x="411480" y="137160"/>
            <a:ext cx="117000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1f497d"/>
                </a:solidFill>
                <a:latin typeface="Arial"/>
                <a:ea typeface="Arial"/>
              </a:rPr>
              <a:t>The PixelRex Crew</a:t>
            </a:r>
            <a:endParaRPr b="0" lang="en-IN" sz="800" spc="-1" strike="noStrike">
              <a:latin typeface="Arial"/>
            </a:endParaRPr>
          </a:p>
        </p:txBody>
      </p:sp>
      <p:sp>
        <p:nvSpPr>
          <p:cNvPr id="175" name="Text 5"/>
          <p:cNvSpPr/>
          <p:nvPr/>
        </p:nvSpPr>
        <p:spPr>
          <a:xfrm>
            <a:off x="1783080" y="201240"/>
            <a:ext cx="822924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3300" spc="-1" strike="noStrike">
                <a:solidFill>
                  <a:srgbClr val="1a1a1a"/>
                </a:solidFill>
                <a:latin typeface="Times New Roman"/>
                <a:ea typeface="Times New Roman"/>
              </a:rPr>
              <a:t>IMPACT AND BENEFITS</a:t>
            </a:r>
            <a:endParaRPr b="0" lang="en-IN" sz="3300" spc="-1" strike="noStrike">
              <a:latin typeface="Arial"/>
            </a:endParaRPr>
          </a:p>
        </p:txBody>
      </p:sp>
      <p:sp>
        <p:nvSpPr>
          <p:cNvPr id="176" name="Text 6"/>
          <p:cNvSpPr/>
          <p:nvPr/>
        </p:nvSpPr>
        <p:spPr>
          <a:xfrm>
            <a:off x="411480" y="896040"/>
            <a:ext cx="113655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Potential impact on the target audience</a:t>
            </a:r>
            <a:endParaRPr b="0" lang="en-IN" sz="1300" spc="-1" strike="noStrike">
              <a:latin typeface="Arial"/>
            </a:endParaRPr>
          </a:p>
        </p:txBody>
      </p:sp>
      <p:sp>
        <p:nvSpPr>
          <p:cNvPr id="177" name="Shape 7"/>
          <p:cNvSpPr/>
          <p:nvPr/>
        </p:nvSpPr>
        <p:spPr>
          <a:xfrm>
            <a:off x="411480" y="1170360"/>
            <a:ext cx="3638880" cy="1572480"/>
          </a:xfrm>
          <a:prstGeom prst="roundRect">
            <a:avLst>
              <a:gd name="adj" fmla="val 2907"/>
            </a:avLst>
          </a:prstGeom>
          <a:solidFill>
            <a:srgbClr val="dce6f1"/>
          </a:solidFill>
          <a:ln w="12700">
            <a:solidFill>
              <a:srgbClr val="ffffff"/>
            </a:solidFill>
            <a:round/>
          </a:ln>
        </p:spPr>
        <p:style>
          <a:lnRef idx="0"/>
          <a:fillRef idx="0"/>
          <a:effectRef idx="0"/>
          <a:fontRef idx="minor"/>
        </p:style>
      </p:sp>
      <p:sp>
        <p:nvSpPr>
          <p:cNvPr id="178" name="Text 8"/>
          <p:cNvSpPr/>
          <p:nvPr/>
        </p:nvSpPr>
        <p:spPr>
          <a:xfrm>
            <a:off x="539640" y="1261800"/>
            <a:ext cx="338292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1f497d"/>
                </a:solidFill>
                <a:latin typeface="Arial"/>
                <a:ea typeface="Arial"/>
              </a:rPr>
              <a:t>I4C ADMIN</a:t>
            </a:r>
            <a:endParaRPr b="0" lang="en-IN" sz="1200" spc="-1" strike="noStrike">
              <a:latin typeface="Arial"/>
            </a:endParaRPr>
          </a:p>
        </p:txBody>
      </p:sp>
      <p:sp>
        <p:nvSpPr>
          <p:cNvPr id="179" name="Text 9"/>
          <p:cNvSpPr/>
          <p:nvPr/>
        </p:nvSpPr>
        <p:spPr>
          <a:xfrm>
            <a:off x="557640" y="1572840"/>
            <a:ext cx="3346200" cy="82260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499"/>
              </a:spcAft>
              <a:buClr>
                <a:srgbClr val="1a1a1a"/>
              </a:buClr>
              <a:buFont typeface="StarSymbol"/>
              <a:buChar char="▪"/>
            </a:pPr>
            <a:r>
              <a:rPr b="0" lang="en-US" sz="900" spc="-1" strike="noStrike">
                <a:solidFill>
                  <a:srgbClr val="1a1a1a"/>
                </a:solidFill>
                <a:latin typeface="Arial"/>
                <a:ea typeface="Arial"/>
              </a:rPr>
              <a:t>All 724 districts, all alerts, national statistics</a:t>
            </a:r>
            <a:endParaRPr b="0" lang="en-IN" sz="900" spc="-1" strike="noStrike">
              <a:latin typeface="Arial"/>
            </a:endParaRPr>
          </a:p>
          <a:p>
            <a:pPr marL="343080" indent="-343080">
              <a:lnSpc>
                <a:spcPct val="95000"/>
              </a:lnSpc>
              <a:buClr>
                <a:srgbClr val="1a1a1a"/>
              </a:buClr>
              <a:buFont typeface="StarSymbol"/>
              <a:buChar char="▪"/>
            </a:pPr>
            <a:r>
              <a:rPr b="0" lang="en-US" sz="900" spc="-1" strike="noStrike">
                <a:solidFill>
                  <a:srgbClr val="1a1a1a"/>
                </a:solidFill>
                <a:latin typeface="Arial"/>
                <a:ea typeface="Arial"/>
              </a:rPr>
              <a:t>Coordinates the national picture and inter-state referrals</a:t>
            </a:r>
            <a:endParaRPr b="0" lang="en-IN" sz="900" spc="-1" strike="noStrike">
              <a:latin typeface="Arial"/>
            </a:endParaRPr>
          </a:p>
        </p:txBody>
      </p:sp>
      <p:sp>
        <p:nvSpPr>
          <p:cNvPr id="180" name="Text 10"/>
          <p:cNvSpPr/>
          <p:nvPr/>
        </p:nvSpPr>
        <p:spPr>
          <a:xfrm>
            <a:off x="539640" y="2432160"/>
            <a:ext cx="338292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i="1" lang="en-US" sz="950" spc="-1" strike="noStrike">
                <a:solidFill>
                  <a:srgbClr val="1f497d"/>
                </a:solidFill>
                <a:latin typeface="Arial"/>
                <a:ea typeface="Arial"/>
              </a:rPr>
              <a:t>Sees the pattern</a:t>
            </a:r>
            <a:endParaRPr b="0" lang="en-IN" sz="950" spc="-1" strike="noStrike">
              <a:latin typeface="Arial"/>
            </a:endParaRPr>
          </a:p>
        </p:txBody>
      </p:sp>
      <p:sp>
        <p:nvSpPr>
          <p:cNvPr id="181" name="Shape 11"/>
          <p:cNvSpPr/>
          <p:nvPr/>
        </p:nvSpPr>
        <p:spPr>
          <a:xfrm>
            <a:off x="4275000" y="1170360"/>
            <a:ext cx="3638880" cy="1572480"/>
          </a:xfrm>
          <a:prstGeom prst="roundRect">
            <a:avLst>
              <a:gd name="adj" fmla="val 2907"/>
            </a:avLst>
          </a:prstGeom>
          <a:solidFill>
            <a:srgbClr val="eaf1dd"/>
          </a:solidFill>
          <a:ln w="12700">
            <a:solidFill>
              <a:srgbClr val="ffffff"/>
            </a:solidFill>
            <a:round/>
          </a:ln>
        </p:spPr>
        <p:style>
          <a:lnRef idx="0"/>
          <a:fillRef idx="0"/>
          <a:effectRef idx="0"/>
          <a:fontRef idx="minor"/>
        </p:style>
      </p:sp>
      <p:sp>
        <p:nvSpPr>
          <p:cNvPr id="182" name="Text 12"/>
          <p:cNvSpPr/>
          <p:nvPr/>
        </p:nvSpPr>
        <p:spPr>
          <a:xfrm>
            <a:off x="4402800" y="1261800"/>
            <a:ext cx="338292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4f6228"/>
                </a:solidFill>
                <a:latin typeface="Arial"/>
                <a:ea typeface="Arial"/>
              </a:rPr>
              <a:t>STATE LEA</a:t>
            </a:r>
            <a:endParaRPr b="0" lang="en-IN" sz="1200" spc="-1" strike="noStrike">
              <a:latin typeface="Arial"/>
            </a:endParaRPr>
          </a:p>
        </p:txBody>
      </p:sp>
      <p:sp>
        <p:nvSpPr>
          <p:cNvPr id="183" name="Text 13"/>
          <p:cNvSpPr/>
          <p:nvPr/>
        </p:nvSpPr>
        <p:spPr>
          <a:xfrm>
            <a:off x="4421160" y="1572840"/>
            <a:ext cx="3346200" cy="82260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499"/>
              </a:spcAft>
              <a:buClr>
                <a:srgbClr val="1a1a1a"/>
              </a:buClr>
              <a:buFont typeface="StarSymbol"/>
              <a:buChar char="▪"/>
            </a:pPr>
            <a:r>
              <a:rPr b="0" lang="en-US" sz="900" spc="-1" strike="noStrike">
                <a:solidFill>
                  <a:srgbClr val="1a1a1a"/>
                </a:solidFill>
                <a:latin typeface="Arial"/>
                <a:ea typeface="Arial"/>
              </a:rPr>
              <a:t>Own state's districts and alerts only</a:t>
            </a:r>
            <a:endParaRPr b="0" lang="en-IN" sz="900" spc="-1" strike="noStrike">
              <a:latin typeface="Arial"/>
            </a:endParaRPr>
          </a:p>
          <a:p>
            <a:pPr marL="343080" indent="-343080">
              <a:lnSpc>
                <a:spcPct val="95000"/>
              </a:lnSpc>
              <a:buClr>
                <a:srgbClr val="1a1a1a"/>
              </a:buClr>
              <a:buFont typeface="StarSymbol"/>
              <a:buChar char="▪"/>
            </a:pPr>
            <a:r>
              <a:rPr b="0" lang="en-US" sz="900" spc="-1" strike="noStrike">
                <a:solidFill>
                  <a:srgbClr val="1a1a1a"/>
                </a:solidFill>
                <a:latin typeface="Arial"/>
                <a:ea typeface="Arial"/>
              </a:rPr>
              <a:t>Cross-jurisdiction inbox: money from their complaint heading to another state — origin, destination, amount, chain age</a:t>
            </a:r>
            <a:endParaRPr b="0" lang="en-IN" sz="900" spc="-1" strike="noStrike">
              <a:latin typeface="Arial"/>
            </a:endParaRPr>
          </a:p>
        </p:txBody>
      </p:sp>
      <p:sp>
        <p:nvSpPr>
          <p:cNvPr id="184" name="Text 14"/>
          <p:cNvSpPr/>
          <p:nvPr/>
        </p:nvSpPr>
        <p:spPr>
          <a:xfrm>
            <a:off x="4402800" y="2432160"/>
            <a:ext cx="338292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i="1" lang="en-US" sz="950" spc="-1" strike="noStrike">
                <a:solidFill>
                  <a:srgbClr val="4f6228"/>
                </a:solidFill>
                <a:latin typeface="Arial"/>
                <a:ea typeface="Arial"/>
              </a:rPr>
              <a:t>Sees their obligation</a:t>
            </a:r>
            <a:endParaRPr b="0" lang="en-IN" sz="950" spc="-1" strike="noStrike">
              <a:latin typeface="Arial"/>
            </a:endParaRPr>
          </a:p>
        </p:txBody>
      </p:sp>
      <p:sp>
        <p:nvSpPr>
          <p:cNvPr id="185" name="Shape 15"/>
          <p:cNvSpPr/>
          <p:nvPr/>
        </p:nvSpPr>
        <p:spPr>
          <a:xfrm>
            <a:off x="8138160" y="1170360"/>
            <a:ext cx="3638880" cy="1572480"/>
          </a:xfrm>
          <a:prstGeom prst="roundRect">
            <a:avLst>
              <a:gd name="adj" fmla="val 2907"/>
            </a:avLst>
          </a:prstGeom>
          <a:solidFill>
            <a:srgbClr val="fdeada"/>
          </a:solidFill>
          <a:ln w="12700">
            <a:solidFill>
              <a:srgbClr val="ffffff"/>
            </a:solidFill>
            <a:round/>
          </a:ln>
        </p:spPr>
        <p:style>
          <a:lnRef idx="0"/>
          <a:fillRef idx="0"/>
          <a:effectRef idx="0"/>
          <a:fontRef idx="minor"/>
        </p:style>
      </p:sp>
      <p:sp>
        <p:nvSpPr>
          <p:cNvPr id="186" name="Text 16"/>
          <p:cNvSpPr/>
          <p:nvPr/>
        </p:nvSpPr>
        <p:spPr>
          <a:xfrm>
            <a:off x="8266320" y="1261800"/>
            <a:ext cx="338292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e36c0a"/>
                </a:solidFill>
                <a:latin typeface="Arial"/>
                <a:ea typeface="Arial"/>
              </a:rPr>
              <a:t>BANK / FI</a:t>
            </a:r>
            <a:endParaRPr b="0" lang="en-IN" sz="1200" spc="-1" strike="noStrike">
              <a:latin typeface="Arial"/>
            </a:endParaRPr>
          </a:p>
        </p:txBody>
      </p:sp>
      <p:sp>
        <p:nvSpPr>
          <p:cNvPr id="187" name="Text 17"/>
          <p:cNvSpPr/>
          <p:nvPr/>
        </p:nvSpPr>
        <p:spPr>
          <a:xfrm>
            <a:off x="8284320" y="1572840"/>
            <a:ext cx="3346200" cy="82260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499"/>
              </a:spcAft>
              <a:buClr>
                <a:srgbClr val="1a1a1a"/>
              </a:buClr>
              <a:buFont typeface="StarSymbol"/>
              <a:buChar char="▪"/>
            </a:pPr>
            <a:r>
              <a:rPr b="0" lang="en-US" sz="900" spc="-1" strike="noStrike">
                <a:solidFill>
                  <a:srgbClr val="1a1a1a"/>
                </a:solidFill>
                <a:latin typeface="Arial"/>
                <a:ea typeface="Arial"/>
              </a:rPr>
              <a:t>No crime intelligence at all</a:t>
            </a:r>
            <a:endParaRPr b="0" lang="en-IN" sz="900" spc="-1" strike="noStrike">
              <a:latin typeface="Arial"/>
            </a:endParaRPr>
          </a:p>
          <a:p>
            <a:pPr marL="343080" indent="-343080">
              <a:lnSpc>
                <a:spcPct val="95000"/>
              </a:lnSpc>
              <a:buClr>
                <a:srgbClr val="1a1a1a"/>
              </a:buClr>
              <a:buFont typeface="StarSymbol"/>
              <a:buChar char="▪"/>
            </a:pPr>
            <a:r>
              <a:rPr b="0" lang="en-US" sz="900" spc="-1" strike="noStrike">
                <a:solidFill>
                  <a:srgbClr val="1a1a1a"/>
                </a:solidFill>
                <a:latin typeface="Arial"/>
                <a:ea typeface="Arial"/>
              </a:rPr>
              <a:t>Only their own exposed ATMs and their own accounts holding funds, with freeze recommendations</a:t>
            </a:r>
            <a:endParaRPr b="0" lang="en-IN" sz="900" spc="-1" strike="noStrike">
              <a:latin typeface="Arial"/>
            </a:endParaRPr>
          </a:p>
        </p:txBody>
      </p:sp>
      <p:sp>
        <p:nvSpPr>
          <p:cNvPr id="188" name="Text 18"/>
          <p:cNvSpPr/>
          <p:nvPr/>
        </p:nvSpPr>
        <p:spPr>
          <a:xfrm>
            <a:off x="8266320" y="2432160"/>
            <a:ext cx="338292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i="1" lang="en-US" sz="950" spc="-1" strike="noStrike">
                <a:solidFill>
                  <a:srgbClr val="e36c0a"/>
                </a:solidFill>
                <a:latin typeface="Arial"/>
                <a:ea typeface="Arial"/>
              </a:rPr>
              <a:t>Sees their exposure</a:t>
            </a:r>
            <a:endParaRPr b="0" lang="en-IN" sz="950" spc="-1" strike="noStrike">
              <a:latin typeface="Arial"/>
            </a:endParaRPr>
          </a:p>
        </p:txBody>
      </p:sp>
      <p:sp>
        <p:nvSpPr>
          <p:cNvPr id="189" name="Text 19"/>
          <p:cNvSpPr/>
          <p:nvPr/>
        </p:nvSpPr>
        <p:spPr>
          <a:xfrm>
            <a:off x="411480" y="2816280"/>
            <a:ext cx="11365560" cy="237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1f497d"/>
                </a:solidFill>
                <a:latin typeface="Arial"/>
                <a:ea typeface="Arial"/>
              </a:rPr>
              <a:t>Segregation is enforced server-side because it encodes who is legally permitted to see what — not a UI preference.</a:t>
            </a:r>
            <a:endParaRPr b="0" lang="en-IN" sz="1000" spc="-1" strike="noStrike">
              <a:latin typeface="Arial"/>
            </a:endParaRPr>
          </a:p>
        </p:txBody>
      </p:sp>
      <p:sp>
        <p:nvSpPr>
          <p:cNvPr id="190" name="Text 20"/>
          <p:cNvSpPr/>
          <p:nvPr/>
        </p:nvSpPr>
        <p:spPr>
          <a:xfrm>
            <a:off x="411480" y="3163680"/>
            <a:ext cx="66747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Benefits of the solution (social, economic, environmental, etc.)</a:t>
            </a:r>
            <a:endParaRPr b="0" lang="en-IN" sz="1300" spc="-1" strike="noStrike">
              <a:latin typeface="Arial"/>
            </a:endParaRPr>
          </a:p>
        </p:txBody>
      </p:sp>
      <p:sp>
        <p:nvSpPr>
          <p:cNvPr id="191" name="Text 21"/>
          <p:cNvSpPr/>
          <p:nvPr/>
        </p:nvSpPr>
        <p:spPr>
          <a:xfrm>
            <a:off x="411480" y="3401640"/>
            <a:ext cx="667476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1" strike="noStrike">
                <a:solidFill>
                  <a:srgbClr val="c0504d"/>
                </a:solidFill>
                <a:latin typeface="Arial"/>
                <a:ea typeface="Arial"/>
              </a:rPr>
              <a:t>Designed-for outcomes based on synthetic-data evaluation. No real-world deployment or real-world impact has been measured.</a:t>
            </a:r>
            <a:endParaRPr b="0" lang="en-IN" sz="850" spc="-1" strike="noStrike">
              <a:latin typeface="Arial"/>
            </a:endParaRPr>
          </a:p>
        </p:txBody>
      </p:sp>
      <p:sp>
        <p:nvSpPr>
          <p:cNvPr id="192" name="Shape 22"/>
          <p:cNvSpPr/>
          <p:nvPr/>
        </p:nvSpPr>
        <p:spPr>
          <a:xfrm>
            <a:off x="411480" y="3639240"/>
            <a:ext cx="6674760" cy="1938240"/>
          </a:xfrm>
          <a:prstGeom prst="roundRect">
            <a:avLst>
              <a:gd name="adj" fmla="val 2358"/>
            </a:avLst>
          </a:prstGeom>
          <a:solidFill>
            <a:srgbClr val="eff4fa"/>
          </a:solidFill>
          <a:ln w="12700">
            <a:solidFill>
              <a:srgbClr val="ffffff"/>
            </a:solidFill>
            <a:round/>
          </a:ln>
        </p:spPr>
        <p:style>
          <a:lnRef idx="0"/>
          <a:fillRef idx="0"/>
          <a:effectRef idx="0"/>
          <a:fontRef idx="minor"/>
        </p:style>
      </p:sp>
      <p:sp>
        <p:nvSpPr>
          <p:cNvPr id="193" name="Text 23"/>
          <p:cNvSpPr/>
          <p:nvPr/>
        </p:nvSpPr>
        <p:spPr>
          <a:xfrm>
            <a:off x="539640" y="3767400"/>
            <a:ext cx="6418800" cy="175536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1000" spc="-1" strike="noStrike">
                <a:solidFill>
                  <a:srgbClr val="1f497d"/>
                </a:solidFill>
                <a:latin typeface="Arial"/>
                <a:ea typeface="Arial"/>
              </a:rPr>
              <a:t>Social — </a:t>
            </a:r>
            <a:r>
              <a:rPr b="0" lang="en-US" sz="1000" spc="-1" strike="noStrike">
                <a:solidFill>
                  <a:srgbClr val="1a1a1a"/>
                </a:solidFill>
                <a:latin typeface="Arial"/>
                <a:ea typeface="Arial"/>
              </a:rPr>
              <a:t>higher chance of recovery for victims through faster, better-targeted fund freezes</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Operational — </a:t>
            </a:r>
            <a:r>
              <a:rPr b="0" lang="en-US" sz="1000" spc="-1" strike="noStrike">
                <a:solidFill>
                  <a:srgbClr val="1a1a1a"/>
                </a:solidFill>
                <a:latin typeface="Arial"/>
                <a:ea typeface="Arial"/>
              </a:rPr>
              <a:t>watching 3.5% of India's districts covers 56.7% of districts with actual cash-outs; 6.9% covers 80.3% — scarce capacity concentrated where it matters</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Institutional — </a:t>
            </a:r>
            <a:r>
              <a:rPr b="0" lang="en-US" sz="1000" spc="-1" strike="noStrike">
                <a:solidFill>
                  <a:srgbClr val="1a1a1a"/>
                </a:solidFill>
                <a:latin typeface="Arial"/>
                <a:ea typeface="Arial"/>
              </a:rPr>
              <a:t>converts national visibility into addressed, accountable inter-state referrals</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Economic — </a:t>
            </a:r>
            <a:r>
              <a:rPr b="0" lang="en-US" sz="1000" spc="-1" strike="noStrike">
                <a:solidFill>
                  <a:srgbClr val="1a1a1a"/>
                </a:solidFill>
                <a:latin typeface="Arial"/>
                <a:ea typeface="Arial"/>
              </a:rPr>
              <a:t>attacks the criminal's cheapest exit; every adaptation forced costs them margin, mules and throughput</a:t>
            </a:r>
            <a:endParaRPr b="0" lang="en-IN" sz="1000" spc="-1" strike="noStrike">
              <a:latin typeface="Arial"/>
            </a:endParaRPr>
          </a:p>
          <a:p>
            <a:pPr>
              <a:lnSpc>
                <a:spcPct val="95000"/>
              </a:lnSpc>
              <a:buNone/>
              <a:tabLst>
                <a:tab algn="l" pos="0"/>
              </a:tabLst>
            </a:pPr>
            <a:r>
              <a:rPr b="1" lang="en-US" sz="1000" spc="-1" strike="noStrike">
                <a:solidFill>
                  <a:srgbClr val="1f497d"/>
                </a:solidFill>
                <a:latin typeface="Arial"/>
                <a:ea typeface="Arial"/>
              </a:rPr>
              <a:t>Systemic — </a:t>
            </a:r>
            <a:r>
              <a:rPr b="0" lang="en-US" sz="1000" spc="-1" strike="noStrike">
                <a:solidFill>
                  <a:srgbClr val="1a1a1a"/>
                </a:solidFill>
                <a:latin typeface="Arial"/>
                <a:ea typeface="Arial"/>
              </a:rPr>
              <a:t>shifts posture from reactive complaint handling toward proactive interdiction</a:t>
            </a:r>
            <a:endParaRPr b="0" lang="en-IN" sz="1000" spc="-1" strike="noStrike">
              <a:latin typeface="Arial"/>
            </a:endParaRPr>
          </a:p>
        </p:txBody>
      </p:sp>
      <p:sp>
        <p:nvSpPr>
          <p:cNvPr id="194" name="Text 24"/>
          <p:cNvSpPr/>
          <p:nvPr/>
        </p:nvSpPr>
        <p:spPr>
          <a:xfrm>
            <a:off x="7333560" y="3163680"/>
            <a:ext cx="444348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Scalability and future scope</a:t>
            </a:r>
            <a:endParaRPr b="0" lang="en-IN" sz="1300" spc="-1" strike="noStrike">
              <a:latin typeface="Arial"/>
            </a:endParaRPr>
          </a:p>
        </p:txBody>
      </p:sp>
      <p:sp>
        <p:nvSpPr>
          <p:cNvPr id="195" name="Shape 25"/>
          <p:cNvSpPr/>
          <p:nvPr/>
        </p:nvSpPr>
        <p:spPr>
          <a:xfrm>
            <a:off x="7333560" y="3639240"/>
            <a:ext cx="4443480" cy="1938240"/>
          </a:xfrm>
          <a:prstGeom prst="roundRect">
            <a:avLst>
              <a:gd name="adj" fmla="val 2358"/>
            </a:avLst>
          </a:prstGeom>
          <a:solidFill>
            <a:srgbClr val="ffffff"/>
          </a:solidFill>
          <a:ln w="12700">
            <a:solidFill>
              <a:srgbClr val="4f81bd"/>
            </a:solidFill>
            <a:round/>
          </a:ln>
        </p:spPr>
        <p:style>
          <a:lnRef idx="0"/>
          <a:fillRef idx="0"/>
          <a:effectRef idx="0"/>
          <a:fontRef idx="minor"/>
        </p:style>
      </p:sp>
      <p:sp>
        <p:nvSpPr>
          <p:cNvPr id="196" name="Text 26"/>
          <p:cNvSpPr/>
          <p:nvPr/>
        </p:nvSpPr>
        <p:spPr>
          <a:xfrm>
            <a:off x="7461360" y="3730680"/>
            <a:ext cx="4187520" cy="877320"/>
          </a:xfrm>
          <a:prstGeom prst="rect">
            <a:avLst/>
          </a:prstGeom>
          <a:noFill/>
          <a:ln w="0">
            <a:noFill/>
          </a:ln>
        </p:spPr>
        <p:style>
          <a:lnRef idx="0"/>
          <a:fillRef idx="0"/>
          <a:effectRef idx="0"/>
          <a:fontRef idx="minor"/>
        </p:style>
        <p:txBody>
          <a:bodyPr lIns="0" rIns="0" tIns="0" bIns="0" anchor="t">
            <a:noAutofit/>
          </a:bodyPr>
          <a:p>
            <a:pPr>
              <a:lnSpc>
                <a:spcPct val="95000"/>
              </a:lnSpc>
              <a:spcAft>
                <a:spcPts val="400"/>
              </a:spcAft>
              <a:buNone/>
              <a:tabLst>
                <a:tab algn="l" pos="0"/>
              </a:tabLst>
            </a:pPr>
            <a:r>
              <a:rPr b="1" lang="en-US" sz="900" spc="-1" strike="noStrike">
                <a:solidFill>
                  <a:srgbClr val="4f6228"/>
                </a:solidFill>
                <a:latin typeface="Arial"/>
                <a:ea typeface="Arial"/>
              </a:rPr>
              <a:t>Demonstrated</a:t>
            </a:r>
            <a:endParaRPr b="0" lang="en-IN" sz="900" spc="-1" strike="noStrike">
              <a:latin typeface="Arial"/>
            </a:endParaRPr>
          </a:p>
          <a:p>
            <a:pPr>
              <a:lnSpc>
                <a:spcPct val="95000"/>
              </a:lnSpc>
              <a:spcAft>
                <a:spcPts val="400"/>
              </a:spcAft>
              <a:buNone/>
              <a:tabLst>
                <a:tab algn="l" pos="0"/>
              </a:tabLst>
            </a:pPr>
            <a:r>
              <a:rPr b="0" lang="en-US" sz="900" spc="-1" strike="noStrike">
                <a:solidFill>
                  <a:srgbClr val="1a1a1a"/>
                </a:solidFill>
                <a:latin typeface="Arial"/>
                <a:ea typeface="Arial"/>
              </a:rPr>
              <a:t>National coverage from day one — 724 districts, no sampling</a:t>
            </a:r>
            <a:endParaRPr b="0" lang="en-IN" sz="900" spc="-1" strike="noStrike">
              <a:latin typeface="Arial"/>
            </a:endParaRPr>
          </a:p>
          <a:p>
            <a:pPr>
              <a:lnSpc>
                <a:spcPct val="95000"/>
              </a:lnSpc>
              <a:spcAft>
                <a:spcPts val="400"/>
              </a:spcAft>
              <a:buNone/>
              <a:tabLst>
                <a:tab algn="l" pos="0"/>
              </a:tabLst>
            </a:pPr>
            <a:r>
              <a:rPr b="0" lang="en-US" sz="900" spc="-1" strike="noStrike">
                <a:solidFill>
                  <a:srgbClr val="1a1a1a"/>
                </a:solidFill>
                <a:latin typeface="Arial"/>
                <a:ea typeface="Arial"/>
              </a:rPr>
              <a:t>1.05 M-row feature table built in seconds by vectorised design</a:t>
            </a:r>
            <a:endParaRPr b="0" lang="en-IN" sz="900" spc="-1" strike="noStrike">
              <a:latin typeface="Arial"/>
            </a:endParaRPr>
          </a:p>
          <a:p>
            <a:pPr>
              <a:lnSpc>
                <a:spcPct val="95000"/>
              </a:lnSpc>
              <a:buNone/>
              <a:tabLst>
                <a:tab algn="l" pos="0"/>
              </a:tabLst>
            </a:pPr>
            <a:r>
              <a:rPr b="0" lang="en-US" sz="900" spc="-1" strike="noStrike">
                <a:solidFill>
                  <a:srgbClr val="1a1a1a"/>
                </a:solidFill>
                <a:latin typeface="Arial"/>
                <a:ea typeface="Arial"/>
              </a:rPr>
              <a:t>Finer spatial or temporal resolution is a config change, not a redesign</a:t>
            </a:r>
            <a:endParaRPr b="0" lang="en-IN" sz="900" spc="-1" strike="noStrike">
              <a:latin typeface="Arial"/>
            </a:endParaRPr>
          </a:p>
        </p:txBody>
      </p:sp>
      <p:sp>
        <p:nvSpPr>
          <p:cNvPr id="197" name="Text 27"/>
          <p:cNvSpPr/>
          <p:nvPr/>
        </p:nvSpPr>
        <p:spPr>
          <a:xfrm>
            <a:off x="7461360" y="4645080"/>
            <a:ext cx="4187520" cy="877320"/>
          </a:xfrm>
          <a:prstGeom prst="rect">
            <a:avLst/>
          </a:prstGeom>
          <a:noFill/>
          <a:ln w="0">
            <a:noFill/>
          </a:ln>
        </p:spPr>
        <p:style>
          <a:lnRef idx="0"/>
          <a:fillRef idx="0"/>
          <a:effectRef idx="0"/>
          <a:fontRef idx="minor"/>
        </p:style>
        <p:txBody>
          <a:bodyPr lIns="0" rIns="0" tIns="0" bIns="0" anchor="t">
            <a:noAutofit/>
          </a:bodyPr>
          <a:p>
            <a:pPr>
              <a:lnSpc>
                <a:spcPct val="95000"/>
              </a:lnSpc>
              <a:spcAft>
                <a:spcPts val="400"/>
              </a:spcAft>
              <a:buNone/>
              <a:tabLst>
                <a:tab algn="l" pos="0"/>
              </a:tabLst>
            </a:pPr>
            <a:r>
              <a:rPr b="1" lang="en-US" sz="900" spc="-1" strike="noStrike">
                <a:solidFill>
                  <a:srgbClr val="1f497d"/>
                </a:solidFill>
                <a:latin typeface="Arial"/>
                <a:ea typeface="Arial"/>
              </a:rPr>
              <a:t>Future scope (not built)</a:t>
            </a:r>
            <a:endParaRPr b="0" lang="en-IN" sz="900" spc="-1" strike="noStrike">
              <a:latin typeface="Arial"/>
            </a:endParaRPr>
          </a:p>
          <a:p>
            <a:pPr>
              <a:lnSpc>
                <a:spcPct val="95000"/>
              </a:lnSpc>
              <a:spcAft>
                <a:spcPts val="400"/>
              </a:spcAft>
              <a:buNone/>
              <a:tabLst>
                <a:tab algn="l" pos="0"/>
              </a:tabLst>
            </a:pPr>
            <a:r>
              <a:rPr b="0" lang="en-US" sz="900" spc="-1" strike="noStrike">
                <a:solidFill>
                  <a:srgbClr val="1a1a1a"/>
                </a:solidFill>
                <a:latin typeface="Arial"/>
                <a:ea typeface="Arial"/>
              </a:rPr>
              <a:t>ST-GNN as the v2 model · streaming ingestion</a:t>
            </a:r>
            <a:endParaRPr b="0" lang="en-IN" sz="900" spc="-1" strike="noStrike">
              <a:latin typeface="Arial"/>
            </a:endParaRPr>
          </a:p>
          <a:p>
            <a:pPr>
              <a:lnSpc>
                <a:spcPct val="95000"/>
              </a:lnSpc>
              <a:spcAft>
                <a:spcPts val="400"/>
              </a:spcAft>
              <a:buNone/>
              <a:tabLst>
                <a:tab algn="l" pos="0"/>
              </a:tabLst>
            </a:pPr>
            <a:r>
              <a:rPr b="0" lang="en-US" sz="900" spc="-1" strike="noStrike">
                <a:solidFill>
                  <a:srgbClr val="1a1a1a"/>
                </a:solidFill>
                <a:latin typeface="Arial"/>
                <a:ea typeface="Arial"/>
              </a:rPr>
              <a:t>Real CFCFRMS / NCRP integration, subject to access and governance</a:t>
            </a:r>
            <a:endParaRPr b="0" lang="en-IN" sz="900" spc="-1" strike="noStrike">
              <a:latin typeface="Arial"/>
            </a:endParaRPr>
          </a:p>
          <a:p>
            <a:pPr>
              <a:lnSpc>
                <a:spcPct val="95000"/>
              </a:lnSpc>
              <a:buNone/>
              <a:tabLst>
                <a:tab algn="l" pos="0"/>
              </a:tabLst>
            </a:pPr>
            <a:r>
              <a:rPr b="0" lang="en-US" sz="900" spc="-1" strike="noStrike">
                <a:solidFill>
                  <a:srgbClr val="1a1a1a"/>
                </a:solidFill>
                <a:latin typeface="Arial"/>
                <a:ea typeface="Arial"/>
              </a:rPr>
              <a:t>Online learning with drift monitoring · production auth and audit trail</a:t>
            </a:r>
            <a:endParaRPr b="0" lang="en-IN" sz="900" spc="-1" strike="noStrike">
              <a:latin typeface="Arial"/>
            </a:endParaRPr>
          </a:p>
        </p:txBody>
      </p:sp>
      <p:sp>
        <p:nvSpPr>
          <p:cNvPr id="198" name="Shape 28"/>
          <p:cNvSpPr/>
          <p:nvPr/>
        </p:nvSpPr>
        <p:spPr>
          <a:xfrm>
            <a:off x="411480" y="5742360"/>
            <a:ext cx="11365560" cy="493560"/>
          </a:xfrm>
          <a:prstGeom prst="roundRect">
            <a:avLst>
              <a:gd name="adj" fmla="val 9259"/>
            </a:avLst>
          </a:prstGeom>
          <a:solidFill>
            <a:srgbClr val="1f497d"/>
          </a:solidFill>
          <a:ln w="12700">
            <a:solidFill>
              <a:srgbClr val="ffffff"/>
            </a:solidFill>
            <a:round/>
          </a:ln>
        </p:spPr>
        <p:style>
          <a:lnRef idx="0"/>
          <a:fillRef idx="0"/>
          <a:effectRef idx="0"/>
          <a:fontRef idx="minor"/>
        </p:style>
      </p:sp>
      <p:sp>
        <p:nvSpPr>
          <p:cNvPr id="199" name="Text 29"/>
          <p:cNvSpPr/>
          <p:nvPr/>
        </p:nvSpPr>
        <p:spPr>
          <a:xfrm>
            <a:off x="411480" y="5742360"/>
            <a:ext cx="11365560" cy="493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500" spc="-1" strike="noStrike">
                <a:solidFill>
                  <a:srgbClr val="ffffff"/>
                </a:solidFill>
                <a:latin typeface="Times New Roman"/>
                <a:ea typeface="Times New Roman"/>
              </a:rPr>
              <a:t>FraudLens turns the gap between theft and cash-out from a blind spot into a deployment window.</a:t>
            </a:r>
            <a:endParaRPr b="0" lang="en-IN" sz="15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0" name="Image 0" descr="tpl/sih_logo.png"/>
          <p:cNvPicPr/>
          <p:nvPr/>
        </p:nvPicPr>
        <p:blipFill>
          <a:blip r:embed="rId1"/>
          <a:stretch/>
        </p:blipFill>
        <p:spPr>
          <a:xfrm>
            <a:off x="10113120" y="118800"/>
            <a:ext cx="1691280" cy="802440"/>
          </a:xfrm>
          <a:prstGeom prst="rect">
            <a:avLst/>
          </a:prstGeom>
          <a:ln w="0">
            <a:noFill/>
          </a:ln>
        </p:spPr>
      </p:pic>
      <p:sp>
        <p:nvSpPr>
          <p:cNvPr id="201" name="Shape 0"/>
          <p:cNvSpPr/>
          <p:nvPr/>
        </p:nvSpPr>
        <p:spPr>
          <a:xfrm>
            <a:off x="180000" y="7560000"/>
            <a:ext cx="12191400" cy="420120"/>
          </a:xfrm>
          <a:prstGeom prst="rect">
            <a:avLst/>
          </a:prstGeom>
          <a:solidFill>
            <a:srgbClr val="0070c0"/>
          </a:solidFill>
          <a:ln w="0">
            <a:noFill/>
          </a:ln>
        </p:spPr>
        <p:style>
          <a:lnRef idx="0"/>
          <a:fillRef idx="0"/>
          <a:effectRef idx="0"/>
          <a:fontRef idx="minor"/>
        </p:style>
      </p:sp>
      <p:sp>
        <p:nvSpPr>
          <p:cNvPr id="202" name="Text 1"/>
          <p:cNvSpPr/>
          <p:nvPr/>
        </p:nvSpPr>
        <p:spPr>
          <a:xfrm>
            <a:off x="3840480" y="6455520"/>
            <a:ext cx="448020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00" spc="-1" strike="noStrike">
                <a:solidFill>
                  <a:srgbClr val="ffffff"/>
                </a:solidFill>
                <a:latin typeface="Arial"/>
                <a:ea typeface="Arial"/>
              </a:rPr>
              <a:t>@SIH Idea submission- Template</a:t>
            </a:r>
            <a:endParaRPr b="0" lang="en-IN" sz="900" spc="-1" strike="noStrike">
              <a:latin typeface="Arial"/>
            </a:endParaRPr>
          </a:p>
        </p:txBody>
      </p:sp>
      <p:sp>
        <p:nvSpPr>
          <p:cNvPr id="203" name="Text 2"/>
          <p:cNvSpPr/>
          <p:nvPr/>
        </p:nvSpPr>
        <p:spPr>
          <a:xfrm>
            <a:off x="11247120" y="6455520"/>
            <a:ext cx="5482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Arial"/>
                <a:ea typeface="Arial"/>
              </a:rPr>
              <a:t>6</a:t>
            </a:r>
            <a:endParaRPr b="0" lang="en-IN" sz="900" spc="-1" strike="noStrike">
              <a:latin typeface="Arial"/>
            </a:endParaRPr>
          </a:p>
        </p:txBody>
      </p:sp>
      <p:sp>
        <p:nvSpPr>
          <p:cNvPr id="204" name="Shape 3"/>
          <p:cNvSpPr/>
          <p:nvPr/>
        </p:nvSpPr>
        <p:spPr>
          <a:xfrm>
            <a:off x="365760" y="118800"/>
            <a:ext cx="1261440" cy="639720"/>
          </a:xfrm>
          <a:prstGeom prst="ellipse">
            <a:avLst/>
          </a:prstGeom>
          <a:solidFill>
            <a:srgbClr val="ffffff"/>
          </a:solidFill>
          <a:ln w="15875">
            <a:solidFill>
              <a:srgbClr val="7030a0"/>
            </a:solidFill>
            <a:round/>
          </a:ln>
        </p:spPr>
        <p:style>
          <a:lnRef idx="0"/>
          <a:fillRef idx="0"/>
          <a:effectRef idx="0"/>
          <a:fontRef idx="minor"/>
        </p:style>
      </p:sp>
      <p:sp>
        <p:nvSpPr>
          <p:cNvPr id="205" name="Text 4"/>
          <p:cNvSpPr/>
          <p:nvPr/>
        </p:nvSpPr>
        <p:spPr>
          <a:xfrm>
            <a:off x="411480" y="137160"/>
            <a:ext cx="117000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1f497d"/>
                </a:solidFill>
                <a:latin typeface="Arial"/>
                <a:ea typeface="Arial"/>
              </a:rPr>
              <a:t>The PixelRex Crew</a:t>
            </a:r>
            <a:endParaRPr b="0" lang="en-IN" sz="800" spc="-1" strike="noStrike">
              <a:latin typeface="Arial"/>
            </a:endParaRPr>
          </a:p>
        </p:txBody>
      </p:sp>
      <p:sp>
        <p:nvSpPr>
          <p:cNvPr id="206" name="Text 5"/>
          <p:cNvSpPr/>
          <p:nvPr/>
        </p:nvSpPr>
        <p:spPr>
          <a:xfrm>
            <a:off x="1783080" y="201240"/>
            <a:ext cx="8229240" cy="603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3300" spc="-1" strike="noStrike">
                <a:solidFill>
                  <a:srgbClr val="1a1a1a"/>
                </a:solidFill>
                <a:latin typeface="Times New Roman"/>
                <a:ea typeface="Times New Roman"/>
              </a:rPr>
              <a:t>RESEARCH AND REFERENCES</a:t>
            </a:r>
            <a:endParaRPr b="0" lang="en-IN" sz="3300" spc="-1" strike="noStrike">
              <a:latin typeface="Arial"/>
            </a:endParaRPr>
          </a:p>
        </p:txBody>
      </p:sp>
      <p:sp>
        <p:nvSpPr>
          <p:cNvPr id="207" name="Text 6"/>
          <p:cNvSpPr/>
          <p:nvPr/>
        </p:nvSpPr>
        <p:spPr>
          <a:xfrm>
            <a:off x="411480" y="896040"/>
            <a:ext cx="1136556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f497d"/>
                </a:solidFill>
                <a:latin typeface="Times New Roman"/>
                <a:ea typeface="Times New Roman"/>
              </a:rPr>
              <a:t>Details / Links of the reference and research work</a:t>
            </a:r>
            <a:endParaRPr b="0" lang="en-IN" sz="1300" spc="-1" strike="noStrike">
              <a:latin typeface="Arial"/>
            </a:endParaRPr>
          </a:p>
        </p:txBody>
      </p:sp>
      <p:sp>
        <p:nvSpPr>
          <p:cNvPr id="208" name="Shape 7"/>
          <p:cNvSpPr/>
          <p:nvPr/>
        </p:nvSpPr>
        <p:spPr>
          <a:xfrm>
            <a:off x="411480" y="1188720"/>
            <a:ext cx="3638880" cy="3245760"/>
          </a:xfrm>
          <a:prstGeom prst="roundRect">
            <a:avLst>
              <a:gd name="adj" fmla="val 1408"/>
            </a:avLst>
          </a:prstGeom>
          <a:solidFill>
            <a:srgbClr val="eff4fa"/>
          </a:solidFill>
          <a:ln w="12700">
            <a:solidFill>
              <a:srgbClr val="ffffff"/>
            </a:solidFill>
            <a:round/>
          </a:ln>
        </p:spPr>
        <p:style>
          <a:lnRef idx="0"/>
          <a:fillRef idx="0"/>
          <a:effectRef idx="0"/>
          <a:fontRef idx="minor"/>
        </p:style>
      </p:sp>
      <p:sp>
        <p:nvSpPr>
          <p:cNvPr id="209" name="Text 8"/>
          <p:cNvSpPr/>
          <p:nvPr/>
        </p:nvSpPr>
        <p:spPr>
          <a:xfrm>
            <a:off x="539640" y="1280160"/>
            <a:ext cx="338292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f497d"/>
                </a:solidFill>
                <a:latin typeface="Arial"/>
                <a:ea typeface="Arial"/>
              </a:rPr>
              <a:t>Problem domain and existing systems</a:t>
            </a:r>
            <a:endParaRPr b="0" lang="en-IN" sz="1050" spc="-1" strike="noStrike">
              <a:latin typeface="Arial"/>
            </a:endParaRPr>
          </a:p>
        </p:txBody>
      </p:sp>
      <p:sp>
        <p:nvSpPr>
          <p:cNvPr id="210" name="Text 9"/>
          <p:cNvSpPr/>
          <p:nvPr/>
        </p:nvSpPr>
        <p:spPr>
          <a:xfrm>
            <a:off x="539640" y="1572840"/>
            <a:ext cx="3382920" cy="274284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880" spc="-1" strike="noStrike">
                <a:solidFill>
                  <a:srgbClr val="1f497d"/>
                </a:solidFill>
                <a:latin typeface="Arial"/>
                <a:ea typeface="Arial"/>
              </a:rPr>
              <a:t>MHA / I4C — </a:t>
            </a:r>
            <a:r>
              <a:rPr b="0" lang="en-US" sz="880" spc="-1" strike="noStrike">
                <a:solidFill>
                  <a:srgbClr val="1a1a1a"/>
                </a:solidFill>
                <a:latin typeface="Arial"/>
                <a:ea typeface="Arial"/>
              </a:rPr>
              <a:t>Problem Statement SIH26184, Smart India Hackathon 2026</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I4C–RBIH MoU, 12 May 2026 — </a:t>
            </a:r>
            <a:r>
              <a:rPr b="0" lang="en-US" sz="880" spc="-1" strike="noStrike">
                <a:solidFill>
                  <a:srgbClr val="1a1a1a"/>
                </a:solidFill>
                <a:latin typeface="Arial"/>
                <a:ea typeface="Arial"/>
              </a:rPr>
              <a:t>mule-account intelligence and Suspect Registry identifiers shared to strengthen AI-driven fraud detection including MuleHunter.ai</a:t>
            </a:r>
            <a:endParaRPr b="0" lang="en-IN" sz="880" spc="-1" strike="noStrike">
              <a:latin typeface="Arial"/>
            </a:endParaRPr>
          </a:p>
          <a:p>
            <a:pPr>
              <a:lnSpc>
                <a:spcPct val="95000"/>
              </a:lnSpc>
              <a:spcAft>
                <a:spcPts val="601"/>
              </a:spcAft>
              <a:buNone/>
              <a:tabLst>
                <a:tab algn="l" pos="0"/>
              </a:tabLst>
            </a:pPr>
            <a:r>
              <a:rPr b="0" lang="en-US" sz="880" spc="-1" strike="noStrike">
                <a:solidFill>
                  <a:srgbClr val="1f4e79"/>
                </a:solidFill>
                <a:latin typeface="Arial"/>
                <a:ea typeface="Arial"/>
              </a:rPr>
              <a:t>pib.gov.in/PressReleasePage.aspx?PRID=2260277</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I4C Samanvaya platform and Pratibimb module — </a:t>
            </a:r>
            <a:r>
              <a:rPr b="0" lang="en-US" sz="880" spc="-1" strike="noStrike">
                <a:solidFill>
                  <a:srgbClr val="1a1a1a"/>
                </a:solidFill>
                <a:latin typeface="Arial"/>
                <a:ea typeface="Arial"/>
              </a:rPr>
              <a:t>MIS, data repository and coordination; maps locations of criminals and crime infrastructure for jurisdictional officers</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NCRP, helpline 1930 and CFCFRMS — </a:t>
            </a:r>
            <a:r>
              <a:rPr b="0" lang="en-US" sz="880" spc="-1" strike="noStrike">
                <a:solidFill>
                  <a:srgbClr val="1a1a1a"/>
                </a:solidFill>
                <a:latin typeface="Arial"/>
                <a:ea typeface="Arial"/>
              </a:rPr>
              <a:t>as described in the problem statement</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Cyber Fraud Mitigation Centre (CFMC) — </a:t>
            </a:r>
            <a:r>
              <a:rPr b="0" lang="en-US" sz="880" spc="-1" strike="noStrike">
                <a:solidFill>
                  <a:srgbClr val="1a1a1a"/>
                </a:solidFill>
                <a:latin typeface="Arial"/>
                <a:ea typeface="Arial"/>
              </a:rPr>
              <a:t>co-locates banks, FIs, telecoms and LEAs for immediate joint action</a:t>
            </a:r>
            <a:endParaRPr b="0" lang="en-IN" sz="880" spc="-1" strike="noStrike">
              <a:latin typeface="Arial"/>
            </a:endParaRPr>
          </a:p>
        </p:txBody>
      </p:sp>
      <p:sp>
        <p:nvSpPr>
          <p:cNvPr id="211" name="Shape 10"/>
          <p:cNvSpPr/>
          <p:nvPr/>
        </p:nvSpPr>
        <p:spPr>
          <a:xfrm>
            <a:off x="4275000" y="1188720"/>
            <a:ext cx="3638880" cy="3245760"/>
          </a:xfrm>
          <a:prstGeom prst="roundRect">
            <a:avLst>
              <a:gd name="adj" fmla="val 1408"/>
            </a:avLst>
          </a:prstGeom>
          <a:solidFill>
            <a:srgbClr val="eff4fa"/>
          </a:solidFill>
          <a:ln w="12700">
            <a:solidFill>
              <a:srgbClr val="ffffff"/>
            </a:solidFill>
            <a:round/>
          </a:ln>
        </p:spPr>
        <p:style>
          <a:lnRef idx="0"/>
          <a:fillRef idx="0"/>
          <a:effectRef idx="0"/>
          <a:fontRef idx="minor"/>
        </p:style>
      </p:sp>
      <p:sp>
        <p:nvSpPr>
          <p:cNvPr id="212" name="Text 11"/>
          <p:cNvSpPr/>
          <p:nvPr/>
        </p:nvSpPr>
        <p:spPr>
          <a:xfrm>
            <a:off x="4402800" y="1280160"/>
            <a:ext cx="338292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f497d"/>
                </a:solidFill>
                <a:latin typeface="Arial"/>
                <a:ea typeface="Arial"/>
              </a:rPr>
              <a:t>Data sources used in the prototype</a:t>
            </a:r>
            <a:endParaRPr b="0" lang="en-IN" sz="1050" spc="-1" strike="noStrike">
              <a:latin typeface="Arial"/>
            </a:endParaRPr>
          </a:p>
        </p:txBody>
      </p:sp>
      <p:sp>
        <p:nvSpPr>
          <p:cNvPr id="213" name="Text 12"/>
          <p:cNvSpPr/>
          <p:nvPr/>
        </p:nvSpPr>
        <p:spPr>
          <a:xfrm>
            <a:off x="4402800" y="1572840"/>
            <a:ext cx="3382920" cy="118836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880" spc="-1" strike="noStrike">
                <a:solidFill>
                  <a:srgbClr val="1f497d"/>
                </a:solidFill>
                <a:latin typeface="Arial"/>
                <a:ea typeface="Arial"/>
              </a:rPr>
              <a:t>Census of India 2011 — </a:t>
            </a:r>
            <a:r>
              <a:rPr b="0" lang="en-US" sz="880" spc="-1" strike="noStrike">
                <a:solidFill>
                  <a:srgbClr val="1a1a1a"/>
                </a:solidFill>
                <a:latin typeface="Arial"/>
                <a:ea typeface="Arial"/>
              </a:rPr>
              <a:t>district population figures joined to 724 districts (exact, fuzzy, alias and state-sum matches; post-2011 districts use a state-median fallback)</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India district boundary GeoJSON — </a:t>
            </a:r>
            <a:r>
              <a:rPr b="0" lang="en-US" sz="880" spc="-1" strike="noStrike">
                <a:solidFill>
                  <a:srgbClr val="1a1a1a"/>
                </a:solidFill>
                <a:latin typeface="Arial"/>
                <a:ea typeface="Arial"/>
              </a:rPr>
              <a:t>Census-2011 based, 724 districts</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All fraud, transaction and withdrawal data — </a:t>
            </a:r>
            <a:r>
              <a:rPr b="0" lang="en-US" sz="880" spc="-1" strike="noStrike">
                <a:solidFill>
                  <a:srgbClr val="c0504d"/>
                </a:solidFill>
                <a:latin typeface="Arial"/>
                <a:ea typeface="Arial"/>
              </a:rPr>
              <a:t>SYNTHETIC, generated by our own engine</a:t>
            </a:r>
            <a:endParaRPr b="0" lang="en-IN" sz="880" spc="-1" strike="noStrike">
              <a:latin typeface="Arial"/>
            </a:endParaRPr>
          </a:p>
        </p:txBody>
      </p:sp>
      <p:sp>
        <p:nvSpPr>
          <p:cNvPr id="214" name="Text 13"/>
          <p:cNvSpPr/>
          <p:nvPr/>
        </p:nvSpPr>
        <p:spPr>
          <a:xfrm>
            <a:off x="4402800" y="2889360"/>
            <a:ext cx="338292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f497d"/>
                </a:solidFill>
                <a:latin typeface="Arial"/>
                <a:ea typeface="Arial"/>
              </a:rPr>
              <a:t>Technical and methodological</a:t>
            </a:r>
            <a:endParaRPr b="0" lang="en-IN" sz="1050" spc="-1" strike="noStrike">
              <a:latin typeface="Arial"/>
            </a:endParaRPr>
          </a:p>
        </p:txBody>
      </p:sp>
      <p:sp>
        <p:nvSpPr>
          <p:cNvPr id="215" name="Text 14"/>
          <p:cNvSpPr/>
          <p:nvPr/>
        </p:nvSpPr>
        <p:spPr>
          <a:xfrm>
            <a:off x="4402800" y="3163680"/>
            <a:ext cx="3382920" cy="1151640"/>
          </a:xfrm>
          <a:prstGeom prst="rect">
            <a:avLst/>
          </a:prstGeom>
          <a:noFill/>
          <a:ln w="0">
            <a:noFill/>
          </a:ln>
        </p:spPr>
        <p:style>
          <a:lnRef idx="0"/>
          <a:fillRef idx="0"/>
          <a:effectRef idx="0"/>
          <a:fontRef idx="minor"/>
        </p:style>
        <p:txBody>
          <a:bodyPr lIns="0" rIns="0" tIns="0" bIns="0" anchor="t">
            <a:noAutofit/>
          </a:bodyPr>
          <a:p>
            <a:pPr>
              <a:lnSpc>
                <a:spcPct val="95000"/>
              </a:lnSpc>
              <a:buNone/>
              <a:tabLst>
                <a:tab algn="l" pos="0"/>
              </a:tabLst>
            </a:pPr>
            <a:r>
              <a:rPr b="1" lang="en-US" sz="880" spc="-1" strike="noStrike">
                <a:solidFill>
                  <a:srgbClr val="1f497d"/>
                </a:solidFill>
                <a:latin typeface="Arial"/>
                <a:ea typeface="Arial"/>
              </a:rPr>
              <a:t>LightGBM — </a:t>
            </a:r>
            <a:r>
              <a:rPr b="0" lang="en-US" sz="880" spc="-1" strike="noStrike">
                <a:solidFill>
                  <a:srgbClr val="1a1a1a"/>
                </a:solidFill>
                <a:latin typeface="Arial"/>
                <a:ea typeface="Arial"/>
              </a:rPr>
              <a:t>gradient-boosting decision tree framework (Microsoft Research)</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Hit-rate@top-K and PR-AUC — </a:t>
            </a:r>
            <a:r>
              <a:rPr b="0" lang="en-US" sz="880" spc="-1" strike="noStrike">
                <a:solidFill>
                  <a:srgbClr val="1a1a1a"/>
                </a:solidFill>
                <a:latin typeface="Arial"/>
                <a:ea typeface="Arial"/>
              </a:rPr>
              <a:t>evaluation metrics for highly imbalanced spatio-temporal event prediction</a:t>
            </a:r>
            <a:endParaRPr b="0" lang="en-IN" sz="880" spc="-1" strike="noStrike">
              <a:latin typeface="Arial"/>
            </a:endParaRPr>
          </a:p>
          <a:p>
            <a:pPr>
              <a:lnSpc>
                <a:spcPct val="95000"/>
              </a:lnSpc>
              <a:buNone/>
              <a:tabLst>
                <a:tab algn="l" pos="0"/>
              </a:tabLst>
            </a:pPr>
            <a:r>
              <a:rPr b="1" lang="en-US" sz="880" spc="-1" strike="noStrike">
                <a:solidFill>
                  <a:srgbClr val="1f497d"/>
                </a:solidFill>
                <a:latin typeface="Arial"/>
                <a:ea typeface="Arial"/>
              </a:rPr>
              <a:t>Self-exciting point-process and hotspot-forecasting literature — </a:t>
            </a:r>
            <a:r>
              <a:rPr b="0" lang="en-US" sz="880" spc="-1" strike="noStrike">
                <a:solidFill>
                  <a:srgbClr val="1a1a1a"/>
                </a:solidFill>
                <a:latin typeface="Arial"/>
                <a:ea typeface="Arial"/>
              </a:rPr>
              <a:t>informed the self-excitation feature design</a:t>
            </a:r>
            <a:endParaRPr b="0" lang="en-IN" sz="880" spc="-1" strike="noStrike">
              <a:latin typeface="Arial"/>
            </a:endParaRPr>
          </a:p>
        </p:txBody>
      </p:sp>
      <p:sp>
        <p:nvSpPr>
          <p:cNvPr id="216" name="Shape 15"/>
          <p:cNvSpPr/>
          <p:nvPr/>
        </p:nvSpPr>
        <p:spPr>
          <a:xfrm>
            <a:off x="8138160" y="1188720"/>
            <a:ext cx="3638880" cy="3245760"/>
          </a:xfrm>
          <a:prstGeom prst="roundRect">
            <a:avLst>
              <a:gd name="adj" fmla="val 1408"/>
            </a:avLst>
          </a:prstGeom>
          <a:solidFill>
            <a:srgbClr val="dce6f1"/>
          </a:solidFill>
          <a:ln w="12700">
            <a:solidFill>
              <a:srgbClr val="ffffff"/>
            </a:solidFill>
            <a:round/>
          </a:ln>
        </p:spPr>
        <p:style>
          <a:lnRef idx="0"/>
          <a:fillRef idx="0"/>
          <a:effectRef idx="0"/>
          <a:fontRef idx="minor"/>
        </p:style>
      </p:sp>
      <p:sp>
        <p:nvSpPr>
          <p:cNvPr id="217" name="Text 16"/>
          <p:cNvSpPr/>
          <p:nvPr/>
        </p:nvSpPr>
        <p:spPr>
          <a:xfrm>
            <a:off x="8266320" y="1280160"/>
            <a:ext cx="338292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f497d"/>
                </a:solidFill>
                <a:latin typeface="Arial"/>
                <a:ea typeface="Arial"/>
              </a:rPr>
              <a:t>How our work differs</a:t>
            </a:r>
            <a:endParaRPr b="0" lang="en-IN" sz="1050" spc="-1" strike="noStrike">
              <a:latin typeface="Arial"/>
            </a:endParaRPr>
          </a:p>
        </p:txBody>
      </p:sp>
      <p:sp>
        <p:nvSpPr>
          <p:cNvPr id="218" name="Text 17"/>
          <p:cNvSpPr/>
          <p:nvPr/>
        </p:nvSpPr>
        <p:spPr>
          <a:xfrm>
            <a:off x="8266320" y="1572840"/>
            <a:ext cx="3382920" cy="131652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601"/>
              </a:spcAft>
              <a:buClr>
                <a:srgbClr val="1a1a1a"/>
              </a:buClr>
              <a:buFont typeface="StarSymbol"/>
              <a:buChar char="▪"/>
            </a:pPr>
            <a:r>
              <a:rPr b="0" lang="en-US" sz="880" spc="-1" strike="noStrike">
                <a:solidFill>
                  <a:srgbClr val="1a1a1a"/>
                </a:solidFill>
                <a:latin typeface="Arial"/>
                <a:ea typeface="Arial"/>
              </a:rPr>
              <a:t>The systems above focus on investigation, mule-account identification, financial intelligence and response.</a:t>
            </a:r>
            <a:endParaRPr b="0" lang="en-IN" sz="880" spc="-1" strike="noStrike">
              <a:latin typeface="Arial"/>
            </a:endParaRPr>
          </a:p>
          <a:p>
            <a:pPr marL="343080" indent="-343080">
              <a:lnSpc>
                <a:spcPct val="95000"/>
              </a:lnSpc>
              <a:spcAft>
                <a:spcPts val="601"/>
              </a:spcAft>
              <a:buClr>
                <a:srgbClr val="1a1a1a"/>
              </a:buClr>
              <a:buFont typeface="StarSymbol"/>
              <a:buChar char="▪"/>
            </a:pPr>
            <a:r>
              <a:rPr b="0" lang="en-US" sz="880" spc="-1" strike="noStrike">
                <a:solidFill>
                  <a:srgbClr val="1a1a1a"/>
                </a:solidFill>
                <a:latin typeface="Arial"/>
                <a:ea typeface="Arial"/>
              </a:rPr>
              <a:t>FraudLens adds a forward-looking prediction layer answering one question: where is the money most likely to be withdrawn next?</a:t>
            </a:r>
            <a:endParaRPr b="0" lang="en-IN" sz="880" spc="-1" strike="noStrike">
              <a:latin typeface="Arial"/>
            </a:endParaRPr>
          </a:p>
          <a:p>
            <a:pPr marL="343080" indent="-343080">
              <a:lnSpc>
                <a:spcPct val="95000"/>
              </a:lnSpc>
              <a:buClr>
                <a:srgbClr val="1a1a1a"/>
              </a:buClr>
              <a:buFont typeface="StarSymbol"/>
              <a:buChar char="▪"/>
            </a:pPr>
            <a:r>
              <a:rPr b="0" lang="en-US" sz="880" spc="-1" strike="noStrike">
                <a:solidFill>
                  <a:srgbClr val="1a1a1a"/>
                </a:solidFill>
                <a:latin typeface="Arial"/>
                <a:ea typeface="Arial"/>
              </a:rPr>
              <a:t>We evaluated against internal baselines — static hotspot lists and trailing-heat analytics — rather than assuming machine learning is automatically an improvement.</a:t>
            </a:r>
            <a:endParaRPr b="0" lang="en-IN" sz="880" spc="-1" strike="noStrike">
              <a:latin typeface="Arial"/>
            </a:endParaRPr>
          </a:p>
        </p:txBody>
      </p:sp>
      <p:sp>
        <p:nvSpPr>
          <p:cNvPr id="219" name="Text 18"/>
          <p:cNvSpPr/>
          <p:nvPr/>
        </p:nvSpPr>
        <p:spPr>
          <a:xfrm>
            <a:off x="8266320" y="3017520"/>
            <a:ext cx="3382920" cy="219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1" strike="noStrike">
                <a:solidFill>
                  <a:srgbClr val="1f497d"/>
                </a:solidFill>
                <a:latin typeface="Arial"/>
                <a:ea typeface="Arial"/>
              </a:rPr>
              <a:t>Future direction</a:t>
            </a:r>
            <a:endParaRPr b="0" lang="en-IN" sz="1050" spc="-1" strike="noStrike">
              <a:latin typeface="Arial"/>
            </a:endParaRPr>
          </a:p>
        </p:txBody>
      </p:sp>
      <p:sp>
        <p:nvSpPr>
          <p:cNvPr id="220" name="Text 19"/>
          <p:cNvSpPr/>
          <p:nvPr/>
        </p:nvSpPr>
        <p:spPr>
          <a:xfrm>
            <a:off x="8266320" y="3291840"/>
            <a:ext cx="3382920" cy="1023840"/>
          </a:xfrm>
          <a:prstGeom prst="rect">
            <a:avLst/>
          </a:prstGeom>
          <a:noFill/>
          <a:ln w="0">
            <a:noFill/>
          </a:ln>
        </p:spPr>
        <p:style>
          <a:lnRef idx="0"/>
          <a:fillRef idx="0"/>
          <a:effectRef idx="0"/>
          <a:fontRef idx="minor"/>
        </p:style>
        <p:txBody>
          <a:bodyPr lIns="0" rIns="0" tIns="0" bIns="0" anchor="t">
            <a:noAutofit/>
          </a:bodyPr>
          <a:p>
            <a:pPr marL="343080" indent="-343080">
              <a:lnSpc>
                <a:spcPct val="95000"/>
              </a:lnSpc>
              <a:spcAft>
                <a:spcPts val="601"/>
              </a:spcAft>
              <a:buClr>
                <a:srgbClr val="1a1a1a"/>
              </a:buClr>
              <a:buFont typeface="StarSymbol"/>
              <a:buChar char="▪"/>
            </a:pPr>
            <a:r>
              <a:rPr b="0" lang="en-US" sz="880" spc="-1" strike="noStrike">
                <a:solidFill>
                  <a:srgbClr val="1a1a1a"/>
                </a:solidFill>
                <a:latin typeface="Arial"/>
                <a:ea typeface="Arial"/>
              </a:rPr>
              <a:t>Spatio-Temporal Graph Neural Networks (ST-GNN) to model accounts, districts and transaction flows</a:t>
            </a:r>
            <a:endParaRPr b="0" lang="en-IN" sz="880" spc="-1" strike="noStrike">
              <a:latin typeface="Arial"/>
            </a:endParaRPr>
          </a:p>
          <a:p>
            <a:pPr marL="343080" indent="-343080">
              <a:lnSpc>
                <a:spcPct val="95000"/>
              </a:lnSpc>
              <a:spcAft>
                <a:spcPts val="601"/>
              </a:spcAft>
              <a:buClr>
                <a:srgbClr val="1a1a1a"/>
              </a:buClr>
              <a:buFont typeface="StarSymbol"/>
              <a:buChar char="▪"/>
            </a:pPr>
            <a:r>
              <a:rPr b="0" lang="en-US" sz="880" spc="-1" strike="noStrike">
                <a:solidFill>
                  <a:srgbClr val="1a1a1a"/>
                </a:solidFill>
                <a:latin typeface="Arial"/>
                <a:ea typeface="Arial"/>
              </a:rPr>
              <a:t>Near-real-time streaming ingestion; integration with real CFCFRMS and NCRP workflows</a:t>
            </a:r>
            <a:endParaRPr b="0" lang="en-IN" sz="880" spc="-1" strike="noStrike">
              <a:latin typeface="Arial"/>
            </a:endParaRPr>
          </a:p>
          <a:p>
            <a:pPr marL="343080" indent="-343080">
              <a:lnSpc>
                <a:spcPct val="95000"/>
              </a:lnSpc>
              <a:buClr>
                <a:srgbClr val="1a1a1a"/>
              </a:buClr>
              <a:buFont typeface="StarSymbol"/>
              <a:buChar char="▪"/>
            </a:pPr>
            <a:r>
              <a:rPr b="0" lang="en-US" sz="880" spc="-1" strike="noStrike">
                <a:solidFill>
                  <a:srgbClr val="1a1a1a"/>
                </a:solidFill>
                <a:latin typeface="Arial"/>
                <a:ea typeface="Arial"/>
              </a:rPr>
              <a:t>Category-specific models and detection of channel shift away from ATM cash-out</a:t>
            </a:r>
            <a:endParaRPr b="0" lang="en-IN" sz="880" spc="-1" strike="noStrike">
              <a:latin typeface="Arial"/>
            </a:endParaRPr>
          </a:p>
        </p:txBody>
      </p:sp>
      <p:sp>
        <p:nvSpPr>
          <p:cNvPr id="221" name="Shape 20"/>
          <p:cNvSpPr/>
          <p:nvPr/>
        </p:nvSpPr>
        <p:spPr>
          <a:xfrm>
            <a:off x="411480" y="4626720"/>
            <a:ext cx="11365560" cy="1627200"/>
          </a:xfrm>
          <a:prstGeom prst="roundRect">
            <a:avLst>
              <a:gd name="adj" fmla="val 2809"/>
            </a:avLst>
          </a:prstGeom>
          <a:solidFill>
            <a:srgbClr val="ffffff"/>
          </a:solidFill>
          <a:ln w="15875">
            <a:solidFill>
              <a:srgbClr val="1f497d"/>
            </a:solidFill>
            <a:round/>
          </a:ln>
        </p:spPr>
        <p:style>
          <a:lnRef idx="0"/>
          <a:fillRef idx="0"/>
          <a:effectRef idx="0"/>
          <a:fontRef idx="minor"/>
        </p:style>
      </p:sp>
      <p:sp>
        <p:nvSpPr>
          <p:cNvPr id="222" name="Text 21"/>
          <p:cNvSpPr/>
          <p:nvPr/>
        </p:nvSpPr>
        <p:spPr>
          <a:xfrm>
            <a:off x="594360" y="4736520"/>
            <a:ext cx="1099980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600" spc="-1" strike="noStrike">
                <a:solidFill>
                  <a:srgbClr val="1f497d"/>
                </a:solidFill>
                <a:latin typeface="Times New Roman"/>
                <a:ea typeface="Times New Roman"/>
              </a:rPr>
              <a:t>Don't wait for the money to disappear before taking action.</a:t>
            </a:r>
            <a:endParaRPr b="0" lang="en-IN" sz="1600" spc="-1" strike="noStrike">
              <a:latin typeface="Arial"/>
            </a:endParaRPr>
          </a:p>
        </p:txBody>
      </p:sp>
      <p:sp>
        <p:nvSpPr>
          <p:cNvPr id="223" name="Shape 22"/>
          <p:cNvSpPr/>
          <p:nvPr/>
        </p:nvSpPr>
        <p:spPr>
          <a:xfrm>
            <a:off x="740520" y="5139000"/>
            <a:ext cx="1965600" cy="456840"/>
          </a:xfrm>
          <a:prstGeom prst="roundRect">
            <a:avLst>
              <a:gd name="adj" fmla="val 10000"/>
            </a:avLst>
          </a:prstGeom>
          <a:solidFill>
            <a:srgbClr val="dce6f1"/>
          </a:solidFill>
          <a:ln w="12700">
            <a:solidFill>
              <a:srgbClr val="ffffff"/>
            </a:solidFill>
            <a:round/>
          </a:ln>
        </p:spPr>
        <p:style>
          <a:lnRef idx="0"/>
          <a:fillRef idx="0"/>
          <a:effectRef idx="0"/>
          <a:fontRef idx="minor"/>
        </p:style>
      </p:sp>
      <p:sp>
        <p:nvSpPr>
          <p:cNvPr id="224" name="Text 23"/>
          <p:cNvSpPr/>
          <p:nvPr/>
        </p:nvSpPr>
        <p:spPr>
          <a:xfrm>
            <a:off x="795600" y="5139000"/>
            <a:ext cx="1855800" cy="456840"/>
          </a:xfrm>
          <a:prstGeom prst="rect">
            <a:avLst/>
          </a:prstGeom>
          <a:noFill/>
          <a:ln w="0">
            <a:noFill/>
          </a:ln>
        </p:spPr>
        <p:style>
          <a:lnRef idx="0"/>
          <a:fillRef idx="0"/>
          <a:effectRef idx="0"/>
          <a:fontRef idx="minor"/>
        </p:style>
        <p:txBody>
          <a:bodyPr lIns="0" rIns="0" tIns="0" bIns="0" anchor="ctr">
            <a:noAutofit/>
          </a:bodyPr>
          <a:p>
            <a:pPr algn="ctr">
              <a:lnSpc>
                <a:spcPct val="90000"/>
              </a:lnSpc>
              <a:buNone/>
              <a:tabLst>
                <a:tab algn="l" pos="0"/>
              </a:tabLst>
            </a:pPr>
            <a:r>
              <a:rPr b="1" lang="en-US" sz="900" spc="-1" strike="noStrike">
                <a:solidFill>
                  <a:srgbClr val="1f497d"/>
                </a:solidFill>
                <a:latin typeface="Arial"/>
                <a:ea typeface="Arial"/>
              </a:rPr>
              <a:t>Cyber-fraud complaint</a:t>
            </a:r>
            <a:endParaRPr b="0" lang="en-IN" sz="900" spc="-1" strike="noStrike">
              <a:latin typeface="Arial"/>
            </a:endParaRPr>
          </a:p>
        </p:txBody>
      </p:sp>
      <p:sp>
        <p:nvSpPr>
          <p:cNvPr id="225" name="Shape 24"/>
          <p:cNvSpPr/>
          <p:nvPr/>
        </p:nvSpPr>
        <p:spPr>
          <a:xfrm>
            <a:off x="2775240" y="5303520"/>
            <a:ext cx="136800" cy="136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226" name="Shape 25"/>
          <p:cNvSpPr/>
          <p:nvPr/>
        </p:nvSpPr>
        <p:spPr>
          <a:xfrm>
            <a:off x="2926080" y="5139000"/>
            <a:ext cx="1965600" cy="456840"/>
          </a:xfrm>
          <a:prstGeom prst="roundRect">
            <a:avLst>
              <a:gd name="adj" fmla="val 10000"/>
            </a:avLst>
          </a:prstGeom>
          <a:solidFill>
            <a:srgbClr val="dce6f1"/>
          </a:solidFill>
          <a:ln w="12700">
            <a:solidFill>
              <a:srgbClr val="ffffff"/>
            </a:solidFill>
            <a:round/>
          </a:ln>
        </p:spPr>
        <p:style>
          <a:lnRef idx="0"/>
          <a:fillRef idx="0"/>
          <a:effectRef idx="0"/>
          <a:fontRef idx="minor"/>
        </p:style>
      </p:sp>
      <p:sp>
        <p:nvSpPr>
          <p:cNvPr id="227" name="Text 26"/>
          <p:cNvSpPr/>
          <p:nvPr/>
        </p:nvSpPr>
        <p:spPr>
          <a:xfrm>
            <a:off x="2980800" y="5139000"/>
            <a:ext cx="1855800" cy="456840"/>
          </a:xfrm>
          <a:prstGeom prst="rect">
            <a:avLst/>
          </a:prstGeom>
          <a:noFill/>
          <a:ln w="0">
            <a:noFill/>
          </a:ln>
        </p:spPr>
        <p:style>
          <a:lnRef idx="0"/>
          <a:fillRef idx="0"/>
          <a:effectRef idx="0"/>
          <a:fontRef idx="minor"/>
        </p:style>
        <p:txBody>
          <a:bodyPr lIns="0" rIns="0" tIns="0" bIns="0" anchor="ctr">
            <a:noAutofit/>
          </a:bodyPr>
          <a:p>
            <a:pPr algn="ctr">
              <a:lnSpc>
                <a:spcPct val="90000"/>
              </a:lnSpc>
              <a:buNone/>
              <a:tabLst>
                <a:tab algn="l" pos="0"/>
              </a:tabLst>
            </a:pPr>
            <a:r>
              <a:rPr b="1" lang="en-US" sz="900" spc="-1" strike="noStrike">
                <a:solidFill>
                  <a:srgbClr val="1f497d"/>
                </a:solidFill>
                <a:latin typeface="Arial"/>
                <a:ea typeface="Arial"/>
              </a:rPr>
              <a:t>Mule-account chain</a:t>
            </a:r>
            <a:endParaRPr b="0" lang="en-IN" sz="900" spc="-1" strike="noStrike">
              <a:latin typeface="Arial"/>
            </a:endParaRPr>
          </a:p>
        </p:txBody>
      </p:sp>
      <p:sp>
        <p:nvSpPr>
          <p:cNvPr id="228" name="Shape 27"/>
          <p:cNvSpPr/>
          <p:nvPr/>
        </p:nvSpPr>
        <p:spPr>
          <a:xfrm>
            <a:off x="4960800" y="5303520"/>
            <a:ext cx="136800" cy="136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229" name="Shape 28"/>
          <p:cNvSpPr/>
          <p:nvPr/>
        </p:nvSpPr>
        <p:spPr>
          <a:xfrm>
            <a:off x="5111640" y="5139000"/>
            <a:ext cx="1965600" cy="456840"/>
          </a:xfrm>
          <a:prstGeom prst="roundRect">
            <a:avLst>
              <a:gd name="adj" fmla="val 10000"/>
            </a:avLst>
          </a:prstGeom>
          <a:solidFill>
            <a:srgbClr val="dce6f1"/>
          </a:solidFill>
          <a:ln w="12700">
            <a:solidFill>
              <a:srgbClr val="ffffff"/>
            </a:solidFill>
            <a:round/>
          </a:ln>
        </p:spPr>
        <p:style>
          <a:lnRef idx="0"/>
          <a:fillRef idx="0"/>
          <a:effectRef idx="0"/>
          <a:fontRef idx="minor"/>
        </p:style>
      </p:sp>
      <p:sp>
        <p:nvSpPr>
          <p:cNvPr id="230" name="Text 29"/>
          <p:cNvSpPr/>
          <p:nvPr/>
        </p:nvSpPr>
        <p:spPr>
          <a:xfrm>
            <a:off x="5166360" y="5139000"/>
            <a:ext cx="1855800" cy="456840"/>
          </a:xfrm>
          <a:prstGeom prst="rect">
            <a:avLst/>
          </a:prstGeom>
          <a:noFill/>
          <a:ln w="0">
            <a:noFill/>
          </a:ln>
        </p:spPr>
        <p:style>
          <a:lnRef idx="0"/>
          <a:fillRef idx="0"/>
          <a:effectRef idx="0"/>
          <a:fontRef idx="minor"/>
        </p:style>
        <p:txBody>
          <a:bodyPr lIns="0" rIns="0" tIns="0" bIns="0" anchor="ctr">
            <a:noAutofit/>
          </a:bodyPr>
          <a:p>
            <a:pPr algn="ctr">
              <a:lnSpc>
                <a:spcPct val="90000"/>
              </a:lnSpc>
              <a:buNone/>
              <a:tabLst>
                <a:tab algn="l" pos="0"/>
              </a:tabLst>
            </a:pPr>
            <a:r>
              <a:rPr b="1" lang="en-US" sz="900" spc="-1" strike="noStrike">
                <a:solidFill>
                  <a:srgbClr val="1f497d"/>
                </a:solidFill>
                <a:latin typeface="Arial"/>
                <a:ea typeface="Arial"/>
              </a:rPr>
              <a:t>Money in flight</a:t>
            </a:r>
            <a:endParaRPr b="0" lang="en-IN" sz="900" spc="-1" strike="noStrike">
              <a:latin typeface="Arial"/>
            </a:endParaRPr>
          </a:p>
        </p:txBody>
      </p:sp>
      <p:sp>
        <p:nvSpPr>
          <p:cNvPr id="231" name="Shape 30"/>
          <p:cNvSpPr/>
          <p:nvPr/>
        </p:nvSpPr>
        <p:spPr>
          <a:xfrm>
            <a:off x="7146000" y="5303520"/>
            <a:ext cx="136800" cy="136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232" name="Shape 31"/>
          <p:cNvSpPr/>
          <p:nvPr/>
        </p:nvSpPr>
        <p:spPr>
          <a:xfrm>
            <a:off x="7296840" y="5139000"/>
            <a:ext cx="1965600" cy="456840"/>
          </a:xfrm>
          <a:prstGeom prst="roundRect">
            <a:avLst>
              <a:gd name="adj" fmla="val 10000"/>
            </a:avLst>
          </a:prstGeom>
          <a:solidFill>
            <a:srgbClr val="dce6f1"/>
          </a:solidFill>
          <a:ln w="12700">
            <a:solidFill>
              <a:srgbClr val="ffffff"/>
            </a:solidFill>
            <a:round/>
          </a:ln>
        </p:spPr>
        <p:style>
          <a:lnRef idx="0"/>
          <a:fillRef idx="0"/>
          <a:effectRef idx="0"/>
          <a:fontRef idx="minor"/>
        </p:style>
      </p:sp>
      <p:sp>
        <p:nvSpPr>
          <p:cNvPr id="233" name="Text 32"/>
          <p:cNvSpPr/>
          <p:nvPr/>
        </p:nvSpPr>
        <p:spPr>
          <a:xfrm>
            <a:off x="7351920" y="5139000"/>
            <a:ext cx="1855800" cy="456840"/>
          </a:xfrm>
          <a:prstGeom prst="rect">
            <a:avLst/>
          </a:prstGeom>
          <a:noFill/>
          <a:ln w="0">
            <a:noFill/>
          </a:ln>
        </p:spPr>
        <p:style>
          <a:lnRef idx="0"/>
          <a:fillRef idx="0"/>
          <a:effectRef idx="0"/>
          <a:fontRef idx="minor"/>
        </p:style>
        <p:txBody>
          <a:bodyPr lIns="0" rIns="0" tIns="0" bIns="0" anchor="ctr">
            <a:noAutofit/>
          </a:bodyPr>
          <a:p>
            <a:pPr algn="ctr">
              <a:lnSpc>
                <a:spcPct val="90000"/>
              </a:lnSpc>
              <a:buNone/>
              <a:tabLst>
                <a:tab algn="l" pos="0"/>
              </a:tabLst>
            </a:pPr>
            <a:r>
              <a:rPr b="1" lang="en-US" sz="900" spc="-1" strike="noStrike">
                <a:solidFill>
                  <a:srgbClr val="1f497d"/>
                </a:solidFill>
                <a:latin typeface="Arial"/>
                <a:ea typeface="Arial"/>
              </a:rPr>
              <a:t>Predicted district</a:t>
            </a:r>
            <a:endParaRPr b="0" lang="en-IN" sz="900" spc="-1" strike="noStrike">
              <a:latin typeface="Arial"/>
            </a:endParaRPr>
          </a:p>
        </p:txBody>
      </p:sp>
      <p:sp>
        <p:nvSpPr>
          <p:cNvPr id="234" name="Shape 33"/>
          <p:cNvSpPr/>
          <p:nvPr/>
        </p:nvSpPr>
        <p:spPr>
          <a:xfrm>
            <a:off x="9331560" y="5303520"/>
            <a:ext cx="136800" cy="136800"/>
          </a:xfrm>
          <a:prstGeom prst="rightArrow">
            <a:avLst>
              <a:gd name="adj1" fmla="val 50000"/>
              <a:gd name="adj2" fmla="val 50000"/>
            </a:avLst>
          </a:prstGeom>
          <a:solidFill>
            <a:srgbClr val="4f81bd"/>
          </a:solidFill>
          <a:ln w="12700">
            <a:solidFill>
              <a:srgbClr val="4f81bd"/>
            </a:solidFill>
            <a:round/>
          </a:ln>
        </p:spPr>
        <p:style>
          <a:lnRef idx="0"/>
          <a:fillRef idx="0"/>
          <a:effectRef idx="0"/>
          <a:fontRef idx="minor"/>
        </p:style>
      </p:sp>
      <p:sp>
        <p:nvSpPr>
          <p:cNvPr id="235" name="Shape 34"/>
          <p:cNvSpPr/>
          <p:nvPr/>
        </p:nvSpPr>
        <p:spPr>
          <a:xfrm>
            <a:off x="9482400" y="5139000"/>
            <a:ext cx="1965600" cy="456840"/>
          </a:xfrm>
          <a:prstGeom prst="roundRect">
            <a:avLst>
              <a:gd name="adj" fmla="val 10000"/>
            </a:avLst>
          </a:prstGeom>
          <a:solidFill>
            <a:srgbClr val="1f497d"/>
          </a:solidFill>
          <a:ln w="12700">
            <a:solidFill>
              <a:srgbClr val="ffffff"/>
            </a:solidFill>
            <a:round/>
          </a:ln>
        </p:spPr>
        <p:style>
          <a:lnRef idx="0"/>
          <a:fillRef idx="0"/>
          <a:effectRef idx="0"/>
          <a:fontRef idx="minor"/>
        </p:style>
      </p:sp>
      <p:sp>
        <p:nvSpPr>
          <p:cNvPr id="236" name="Text 35"/>
          <p:cNvSpPr/>
          <p:nvPr/>
        </p:nvSpPr>
        <p:spPr>
          <a:xfrm>
            <a:off x="9537120" y="5139000"/>
            <a:ext cx="1855800" cy="456840"/>
          </a:xfrm>
          <a:prstGeom prst="rect">
            <a:avLst/>
          </a:prstGeom>
          <a:noFill/>
          <a:ln w="0">
            <a:noFill/>
          </a:ln>
        </p:spPr>
        <p:style>
          <a:lnRef idx="0"/>
          <a:fillRef idx="0"/>
          <a:effectRef idx="0"/>
          <a:fontRef idx="minor"/>
        </p:style>
        <p:txBody>
          <a:bodyPr lIns="0" rIns="0" tIns="0" bIns="0" anchor="ctr">
            <a:noAutofit/>
          </a:bodyPr>
          <a:p>
            <a:pPr algn="ctr">
              <a:lnSpc>
                <a:spcPct val="90000"/>
              </a:lnSpc>
              <a:buNone/>
              <a:tabLst>
                <a:tab algn="l" pos="0"/>
              </a:tabLst>
            </a:pPr>
            <a:r>
              <a:rPr b="1" lang="en-US" sz="900" spc="-1" strike="noStrike">
                <a:solidFill>
                  <a:srgbClr val="ffffff"/>
                </a:solidFill>
                <a:latin typeface="Arial"/>
                <a:ea typeface="Arial"/>
              </a:rPr>
              <a:t>Proactive alert</a:t>
            </a:r>
            <a:endParaRPr b="0" lang="en-IN" sz="900" spc="-1" strike="noStrike">
              <a:latin typeface="Arial"/>
            </a:endParaRPr>
          </a:p>
        </p:txBody>
      </p:sp>
      <p:sp>
        <p:nvSpPr>
          <p:cNvPr id="237" name="Text 36"/>
          <p:cNvSpPr/>
          <p:nvPr/>
        </p:nvSpPr>
        <p:spPr>
          <a:xfrm>
            <a:off x="594360" y="5706000"/>
            <a:ext cx="1099980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950" spc="-1" strike="noStrike">
                <a:solidFill>
                  <a:srgbClr val="595959"/>
                </a:solidFill>
                <a:latin typeface="Arial"/>
                <a:ea typeface="Arial"/>
              </a:rPr>
              <a:t>FraudLens turns cyber-fraud intelligence into proactive intervention.   |   All results shown in this deck are from SYNTHETIC data.</a:t>
            </a:r>
            <a:endParaRPr b="0" lang="en-IN" sz="9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2026-09-08T00:30:56Z</dcterms:created>
  <dc:creator>The PixelRex Crew</dc:creator>
  <dc:description/>
  <dc:language>en-IN</dc:language>
  <cp:lastModifiedBy/>
  <dcterms:modified xsi:type="dcterms:W3CDTF">2026-09-17T12:00:21Z</dcterms:modified>
  <cp:revision>3</cp:revision>
  <dc:subject>PptxGenJS Presentation</dc:subject>
  <dc:title>FraudLens - SIH 2026 Idea Submission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Widescreen</vt:lpwstr>
  </property>
  <property fmtid="{D5CDD505-2E9C-101B-9397-08002B2CF9AE}" pid="4" name="Slides">
    <vt:i4>6</vt:i4>
  </property>
</Properties>
</file>